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7"/>
  </p:notesMasterIdLst>
  <p:sldIdLst>
    <p:sldId id="256" r:id="rId5"/>
    <p:sldId id="257" r:id="rId6"/>
    <p:sldId id="258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A416"/>
    <a:srgbClr val="29ACAC"/>
    <a:srgbClr val="5E00FF"/>
    <a:srgbClr val="9ECB3D"/>
    <a:srgbClr val="F8BB2F"/>
    <a:srgbClr val="535356"/>
    <a:srgbClr val="EF5290"/>
    <a:srgbClr val="737373"/>
    <a:srgbClr val="FFFFFF"/>
    <a:srgbClr val="879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2EC2DD-7316-B6CA-F723-0CB4687AEDC5}" v="10" dt="2025-05-12T12:49:03.2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94" autoAdjust="0"/>
    <p:restoredTop sz="96197"/>
  </p:normalViewPr>
  <p:slideViewPr>
    <p:cSldViewPr snapToGrid="0">
      <p:cViewPr varScale="1">
        <p:scale>
          <a:sx n="119" d="100"/>
          <a:sy n="119" d="100"/>
        </p:scale>
        <p:origin x="5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265E5F-BE74-F846-BEFF-CF19108773E9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3CB302-A2D4-2344-B0DB-EF5A674E1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925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9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9741BE-95BA-B833-C075-66D00D3D08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E8D4EE38-8A90-DCEB-E204-EFDAC6C9357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7784" y="1493523"/>
            <a:ext cx="5886559" cy="3092346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5400" b="1" i="0">
                <a:solidFill>
                  <a:schemeClr val="accent4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Here Lorem Ipsum Dolor Sit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4A1BA9B2-AD57-6827-9FFC-DDFA6E30EE0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7784" y="5032149"/>
            <a:ext cx="5388745" cy="681038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>
                <a:solidFill>
                  <a:srgbClr val="737373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subheading 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52D41EF-6A35-BAFD-0640-304E96ED3E52}"/>
              </a:ext>
            </a:extLst>
          </p:cNvPr>
          <p:cNvCxnSpPr>
            <a:cxnSpLocks/>
          </p:cNvCxnSpPr>
          <p:nvPr userDrawn="1"/>
        </p:nvCxnSpPr>
        <p:spPr>
          <a:xfrm>
            <a:off x="557784" y="4755322"/>
            <a:ext cx="5886559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blue circle with black background&#10;&#10;Description automatically generated">
            <a:extLst>
              <a:ext uri="{FF2B5EF4-FFF2-40B4-BE49-F238E27FC236}">
                <a16:creationId xmlns:a16="http://schemas.microsoft.com/office/drawing/2014/main" id="{FA87CA50-3E18-92B5-0921-55028689773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7784" y="722530"/>
            <a:ext cx="2614930" cy="3231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957AE4B-CC77-86DC-BAB1-1D2F7F647529}"/>
              </a:ext>
            </a:extLst>
          </p:cNvPr>
          <p:cNvSpPr txBox="1"/>
          <p:nvPr userDrawn="1"/>
        </p:nvSpPr>
        <p:spPr>
          <a:xfrm>
            <a:off x="8162579" y="6448503"/>
            <a:ext cx="3471636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 spc="300" baseline="0" dirty="0">
                <a:solidFill>
                  <a:srgbClr val="737373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FLAGSHIP PIONEERING COMPANY</a:t>
            </a:r>
          </a:p>
        </p:txBody>
      </p:sp>
    </p:spTree>
    <p:extLst>
      <p:ext uri="{BB962C8B-B14F-4D97-AF65-F5344CB8AC3E}">
        <p14:creationId xmlns:p14="http://schemas.microsoft.com/office/powerpoint/2010/main" val="8282501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C – Light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BC76452D-4112-30C3-5CF2-9D63BBC07019}"/>
              </a:ext>
            </a:extLst>
          </p:cNvPr>
          <p:cNvSpPr txBox="1"/>
          <p:nvPr userDrawn="1"/>
        </p:nvSpPr>
        <p:spPr>
          <a:xfrm>
            <a:off x="557784" y="194053"/>
            <a:ext cx="6353138" cy="64633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600" b="1" i="0" dirty="0">
                <a:solidFill>
                  <a:schemeClr val="accent4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rPr>
              <a:t>Table of contents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6837748-4EF2-B407-6394-23C1E1276D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843" y="1693590"/>
            <a:ext cx="7640638" cy="463550"/>
          </a:xfrm>
        </p:spPr>
        <p:txBody>
          <a:bodyPr>
            <a:noAutofit/>
          </a:bodyPr>
          <a:lstStyle>
            <a:lvl1pPr marL="54864" indent="0">
              <a:buNone/>
              <a:defRPr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8D35750B-FE88-FC3F-6440-EFA362C04C5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843" y="2310754"/>
            <a:ext cx="7640638" cy="463550"/>
          </a:xfrm>
        </p:spPr>
        <p:txBody>
          <a:bodyPr>
            <a:noAutofit/>
          </a:bodyPr>
          <a:lstStyle>
            <a:lvl1pPr marL="54864" indent="0">
              <a:buNone/>
              <a:defRPr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C3F12ED0-9290-F6FB-604F-DA41F4A88F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1843" y="2912790"/>
            <a:ext cx="7640638" cy="463550"/>
          </a:xfrm>
        </p:spPr>
        <p:txBody>
          <a:bodyPr>
            <a:noAutofit/>
          </a:bodyPr>
          <a:lstStyle>
            <a:lvl1pPr marL="54864" indent="0">
              <a:buNone/>
              <a:defRPr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EA5A23AD-BE36-91D7-0AB4-11DA46D150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843" y="3529954"/>
            <a:ext cx="7640638" cy="463550"/>
          </a:xfrm>
        </p:spPr>
        <p:txBody>
          <a:bodyPr>
            <a:noAutofit/>
          </a:bodyPr>
          <a:lstStyle>
            <a:lvl1pPr marL="54864" indent="0">
              <a:buNone/>
              <a:defRPr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A11AD0DC-614E-DF06-75CF-DA221CA3755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1843" y="4145242"/>
            <a:ext cx="7640638" cy="463550"/>
          </a:xfrm>
        </p:spPr>
        <p:txBody>
          <a:bodyPr>
            <a:noAutofit/>
          </a:bodyPr>
          <a:lstStyle>
            <a:lvl1pPr marL="54864" indent="0">
              <a:buNone/>
              <a:defRPr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3F805C8D-7802-7BF5-6BD8-919063BC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1843" y="4762406"/>
            <a:ext cx="7640638" cy="463550"/>
          </a:xfrm>
        </p:spPr>
        <p:txBody>
          <a:bodyPr>
            <a:noAutofit/>
          </a:bodyPr>
          <a:lstStyle>
            <a:lvl1pPr marL="54864" indent="0">
              <a:buNone/>
              <a:defRPr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852C2B32-B9B5-47F0-55DA-BF9AD9F211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1843" y="5358753"/>
            <a:ext cx="7640638" cy="463550"/>
          </a:xfrm>
        </p:spPr>
        <p:txBody>
          <a:bodyPr>
            <a:noAutofit/>
          </a:bodyPr>
          <a:lstStyle>
            <a:lvl1pPr marL="54864" indent="0">
              <a:buNone/>
              <a:defRPr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908CCE09-B85E-FC77-4BCE-7B75931BFC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561983" y="1699058"/>
            <a:ext cx="1056276" cy="463550"/>
          </a:xfrm>
        </p:spPr>
        <p:txBody>
          <a:bodyPr>
            <a:noAutofit/>
          </a:bodyPr>
          <a:lstStyle>
            <a:lvl1pPr marL="54864" indent="0">
              <a:buNone/>
              <a:defRPr b="0" i="0">
                <a:solidFill>
                  <a:srgbClr val="737373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#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5A9A486C-2D66-3F5E-392D-92E3BCE728B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561983" y="2316222"/>
            <a:ext cx="1056276" cy="463550"/>
          </a:xfrm>
        </p:spPr>
        <p:txBody>
          <a:bodyPr>
            <a:noAutofit/>
          </a:bodyPr>
          <a:lstStyle>
            <a:lvl1pPr marL="54864" indent="0">
              <a:buNone/>
              <a:defRPr b="0" i="0">
                <a:solidFill>
                  <a:srgbClr val="737373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#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510607C6-0938-AE3D-BAB9-CCFBA2E84E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561983" y="2918258"/>
            <a:ext cx="1056276" cy="463550"/>
          </a:xfrm>
        </p:spPr>
        <p:txBody>
          <a:bodyPr>
            <a:noAutofit/>
          </a:bodyPr>
          <a:lstStyle>
            <a:lvl1pPr marL="54864" indent="0">
              <a:buNone/>
              <a:defRPr b="0" i="0">
                <a:solidFill>
                  <a:srgbClr val="737373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#</a:t>
            </a:r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6FC3B4B3-268D-99F2-66F3-350E95CF3F6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61983" y="3535422"/>
            <a:ext cx="1056276" cy="463550"/>
          </a:xfrm>
        </p:spPr>
        <p:txBody>
          <a:bodyPr>
            <a:noAutofit/>
          </a:bodyPr>
          <a:lstStyle>
            <a:lvl1pPr marL="54864" indent="0">
              <a:buNone/>
              <a:defRPr b="0" i="0">
                <a:solidFill>
                  <a:srgbClr val="737373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#</a:t>
            </a:r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3C89F1EB-35F6-D8A8-8B00-6DA1647C55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561983" y="4150710"/>
            <a:ext cx="1056276" cy="463550"/>
          </a:xfrm>
        </p:spPr>
        <p:txBody>
          <a:bodyPr>
            <a:noAutofit/>
          </a:bodyPr>
          <a:lstStyle>
            <a:lvl1pPr marL="54864" indent="0">
              <a:buNone/>
              <a:defRPr b="0" i="0">
                <a:solidFill>
                  <a:srgbClr val="737373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#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9B59F617-079E-BB58-F75B-81351B7D81B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561983" y="4767874"/>
            <a:ext cx="1056276" cy="463550"/>
          </a:xfrm>
        </p:spPr>
        <p:txBody>
          <a:bodyPr>
            <a:noAutofit/>
          </a:bodyPr>
          <a:lstStyle>
            <a:lvl1pPr marL="54864" indent="0">
              <a:buNone/>
              <a:defRPr b="0" i="0">
                <a:solidFill>
                  <a:srgbClr val="737373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#</a:t>
            </a:r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94A515D3-3D94-0487-902B-292A77CE83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61983" y="5364221"/>
            <a:ext cx="1056276" cy="463550"/>
          </a:xfrm>
        </p:spPr>
        <p:txBody>
          <a:bodyPr>
            <a:noAutofit/>
          </a:bodyPr>
          <a:lstStyle>
            <a:lvl1pPr marL="54864" indent="0">
              <a:buNone/>
              <a:defRPr b="0" i="0">
                <a:solidFill>
                  <a:srgbClr val="737373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#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339B8-BF54-6506-DAAD-F2E32D12EE60}"/>
              </a:ext>
            </a:extLst>
          </p:cNvPr>
          <p:cNvSpPr txBox="1"/>
          <p:nvPr userDrawn="1"/>
        </p:nvSpPr>
        <p:spPr>
          <a:xfrm>
            <a:off x="8162579" y="6448503"/>
            <a:ext cx="3471636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 spc="300" baseline="0" dirty="0">
                <a:solidFill>
                  <a:srgbClr val="737373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FLAGSHIP PIONEERING COMPANY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75526CA-8FC9-D763-995B-23DB066B08DA}"/>
              </a:ext>
            </a:extLst>
          </p:cNvPr>
          <p:cNvCxnSpPr>
            <a:cxnSpLocks/>
          </p:cNvCxnSpPr>
          <p:nvPr userDrawn="1"/>
        </p:nvCxnSpPr>
        <p:spPr>
          <a:xfrm>
            <a:off x="2037143" y="6556225"/>
            <a:ext cx="6485758" cy="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 descr="A blue circle with black background&#10;&#10;Description automatically generated">
            <a:extLst>
              <a:ext uri="{FF2B5EF4-FFF2-40B4-BE49-F238E27FC236}">
                <a16:creationId xmlns:a16="http://schemas.microsoft.com/office/drawing/2014/main" id="{03D063D3-B2C9-9EDB-AC62-06B13D9E3A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7784" y="6448503"/>
            <a:ext cx="1371600" cy="16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991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C – Light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6837748-4EF2-B407-6394-23C1E1276D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9224" y="1751829"/>
            <a:ext cx="7640638" cy="246221"/>
          </a:xfrm>
        </p:spPr>
        <p:txBody>
          <a:bodyPr>
            <a:noAutofit/>
          </a:bodyPr>
          <a:lstStyle>
            <a:lvl1pPr marL="54864" indent="0">
              <a:buNone/>
              <a:defRPr sz="16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908CCE09-B85E-FC77-4BCE-7B75931BFC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881360" y="1749935"/>
            <a:ext cx="736899" cy="246221"/>
          </a:xfrm>
        </p:spPr>
        <p:txBody>
          <a:bodyPr>
            <a:noAutofit/>
          </a:bodyPr>
          <a:lstStyle>
            <a:lvl1pPr marL="54864" indent="0">
              <a:buNone/>
              <a:defRPr sz="1600" b="0" i="0">
                <a:solidFill>
                  <a:srgbClr val="737373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#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8641B29F-50EA-A0D6-22FB-470B0ABFE92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9224" y="2169068"/>
            <a:ext cx="7640638" cy="246221"/>
          </a:xfrm>
        </p:spPr>
        <p:txBody>
          <a:bodyPr>
            <a:noAutofit/>
          </a:bodyPr>
          <a:lstStyle>
            <a:lvl1pPr marL="54864" indent="0">
              <a:buNone/>
              <a:defRPr sz="16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A9DB522B-5AEB-1CEF-2B2F-25B769287DD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881360" y="2167174"/>
            <a:ext cx="736899" cy="246221"/>
          </a:xfrm>
        </p:spPr>
        <p:txBody>
          <a:bodyPr>
            <a:noAutofit/>
          </a:bodyPr>
          <a:lstStyle>
            <a:lvl1pPr marL="54864" indent="0">
              <a:buNone/>
              <a:defRPr sz="1600" b="0" i="0">
                <a:solidFill>
                  <a:srgbClr val="737373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#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A268C47E-454C-029C-05F2-C6475D0E26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9224" y="2586307"/>
            <a:ext cx="7640638" cy="246221"/>
          </a:xfrm>
        </p:spPr>
        <p:txBody>
          <a:bodyPr>
            <a:noAutofit/>
          </a:bodyPr>
          <a:lstStyle>
            <a:lvl1pPr marL="54864" indent="0">
              <a:buNone/>
              <a:defRPr sz="16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A753BDE9-FB4A-44DE-7BD4-B7E8918CCFD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881360" y="2584413"/>
            <a:ext cx="736899" cy="246221"/>
          </a:xfrm>
        </p:spPr>
        <p:txBody>
          <a:bodyPr>
            <a:noAutofit/>
          </a:bodyPr>
          <a:lstStyle>
            <a:lvl1pPr marL="54864" indent="0">
              <a:buNone/>
              <a:defRPr sz="1600" b="0" i="0">
                <a:solidFill>
                  <a:srgbClr val="737373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#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CEF4114C-8E67-278C-54B9-B57388BF4B1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9224" y="3003546"/>
            <a:ext cx="7640638" cy="246221"/>
          </a:xfrm>
        </p:spPr>
        <p:txBody>
          <a:bodyPr>
            <a:noAutofit/>
          </a:bodyPr>
          <a:lstStyle>
            <a:lvl1pPr marL="54864" indent="0">
              <a:buNone/>
              <a:defRPr sz="16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28C7E4A1-4654-071C-7085-29F6E4F042F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881360" y="3001652"/>
            <a:ext cx="736899" cy="246221"/>
          </a:xfrm>
        </p:spPr>
        <p:txBody>
          <a:bodyPr>
            <a:noAutofit/>
          </a:bodyPr>
          <a:lstStyle>
            <a:lvl1pPr marL="54864" indent="0">
              <a:buNone/>
              <a:defRPr sz="1600" b="0" i="0">
                <a:solidFill>
                  <a:srgbClr val="737373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#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945FFAC3-D4EE-95C3-FA91-AAB9B293B87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9224" y="3420785"/>
            <a:ext cx="7640638" cy="246221"/>
          </a:xfrm>
        </p:spPr>
        <p:txBody>
          <a:bodyPr>
            <a:noAutofit/>
          </a:bodyPr>
          <a:lstStyle>
            <a:lvl1pPr marL="54864" indent="0">
              <a:buNone/>
              <a:defRPr sz="16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9520DEBB-CE83-D4B4-9DE3-3C4652B08D7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881360" y="3418891"/>
            <a:ext cx="736899" cy="246221"/>
          </a:xfrm>
        </p:spPr>
        <p:txBody>
          <a:bodyPr>
            <a:noAutofit/>
          </a:bodyPr>
          <a:lstStyle>
            <a:lvl1pPr marL="54864" indent="0">
              <a:buNone/>
              <a:defRPr sz="1600" b="0" i="0">
                <a:solidFill>
                  <a:srgbClr val="737373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#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DF45B02A-2CD8-2D8A-F83C-F829098A2A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9224" y="3838024"/>
            <a:ext cx="7640638" cy="246221"/>
          </a:xfrm>
        </p:spPr>
        <p:txBody>
          <a:bodyPr>
            <a:noAutofit/>
          </a:bodyPr>
          <a:lstStyle>
            <a:lvl1pPr marL="54864" indent="0">
              <a:buNone/>
              <a:defRPr sz="16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253E4E44-D592-6575-4C71-564E8C1D208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881360" y="3836130"/>
            <a:ext cx="736899" cy="246221"/>
          </a:xfrm>
        </p:spPr>
        <p:txBody>
          <a:bodyPr>
            <a:noAutofit/>
          </a:bodyPr>
          <a:lstStyle>
            <a:lvl1pPr marL="54864" indent="0">
              <a:buNone/>
              <a:defRPr sz="1600" b="0" i="0">
                <a:solidFill>
                  <a:srgbClr val="737373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#</a:t>
            </a:r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9D716981-3881-C58B-DBE6-A6DA489E673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49224" y="4255263"/>
            <a:ext cx="7640638" cy="246221"/>
          </a:xfrm>
        </p:spPr>
        <p:txBody>
          <a:bodyPr>
            <a:noAutofit/>
          </a:bodyPr>
          <a:lstStyle>
            <a:lvl1pPr marL="54864" indent="0">
              <a:buNone/>
              <a:defRPr sz="16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3CCD69F-C2C2-FD87-C077-AAED9CEC26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881360" y="4253369"/>
            <a:ext cx="736899" cy="246221"/>
          </a:xfrm>
        </p:spPr>
        <p:txBody>
          <a:bodyPr>
            <a:noAutofit/>
          </a:bodyPr>
          <a:lstStyle>
            <a:lvl1pPr marL="54864" indent="0">
              <a:buNone/>
              <a:defRPr sz="1600" b="0" i="0">
                <a:solidFill>
                  <a:srgbClr val="737373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#</a:t>
            </a:r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2402B5F4-EE77-F340-6E68-B501442E362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9224" y="4672502"/>
            <a:ext cx="7640638" cy="246221"/>
          </a:xfrm>
        </p:spPr>
        <p:txBody>
          <a:bodyPr>
            <a:noAutofit/>
          </a:bodyPr>
          <a:lstStyle>
            <a:lvl1pPr marL="54864" indent="0">
              <a:buNone/>
              <a:defRPr sz="16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34" name="Text Placeholder 9">
            <a:extLst>
              <a:ext uri="{FF2B5EF4-FFF2-40B4-BE49-F238E27FC236}">
                <a16:creationId xmlns:a16="http://schemas.microsoft.com/office/drawing/2014/main" id="{72507433-E906-AC0F-EE2D-CD7756C652A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881360" y="4670608"/>
            <a:ext cx="736899" cy="246221"/>
          </a:xfrm>
        </p:spPr>
        <p:txBody>
          <a:bodyPr>
            <a:noAutofit/>
          </a:bodyPr>
          <a:lstStyle>
            <a:lvl1pPr marL="54864" indent="0">
              <a:buNone/>
              <a:defRPr sz="1600" b="0" i="0">
                <a:solidFill>
                  <a:srgbClr val="737373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#</a:t>
            </a:r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C0070EE1-D8D6-5920-6EFA-AD846617972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9224" y="5089741"/>
            <a:ext cx="7640638" cy="246221"/>
          </a:xfrm>
        </p:spPr>
        <p:txBody>
          <a:bodyPr>
            <a:noAutofit/>
          </a:bodyPr>
          <a:lstStyle>
            <a:lvl1pPr marL="54864" indent="0">
              <a:buNone/>
              <a:defRPr sz="16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F0469F1D-822D-3CA9-3D79-46A8E545A3A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881360" y="5087847"/>
            <a:ext cx="736899" cy="246221"/>
          </a:xfrm>
        </p:spPr>
        <p:txBody>
          <a:bodyPr>
            <a:noAutofit/>
          </a:bodyPr>
          <a:lstStyle>
            <a:lvl1pPr marL="54864" indent="0">
              <a:buNone/>
              <a:defRPr sz="1600" b="0" i="0">
                <a:solidFill>
                  <a:srgbClr val="737373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#</a:t>
            </a:r>
          </a:p>
        </p:txBody>
      </p:sp>
      <p:sp>
        <p:nvSpPr>
          <p:cNvPr id="37" name="Text Placeholder 9">
            <a:extLst>
              <a:ext uri="{FF2B5EF4-FFF2-40B4-BE49-F238E27FC236}">
                <a16:creationId xmlns:a16="http://schemas.microsoft.com/office/drawing/2014/main" id="{F60758F6-251E-1522-A18B-E98338567C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9224" y="5506980"/>
            <a:ext cx="7640638" cy="246221"/>
          </a:xfrm>
        </p:spPr>
        <p:txBody>
          <a:bodyPr>
            <a:noAutofit/>
          </a:bodyPr>
          <a:lstStyle>
            <a:lvl1pPr marL="54864" indent="0">
              <a:buNone/>
              <a:defRPr sz="16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7286A337-12F1-3886-59C8-A39F4E826B9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881360" y="5505086"/>
            <a:ext cx="736899" cy="246221"/>
          </a:xfrm>
        </p:spPr>
        <p:txBody>
          <a:bodyPr>
            <a:noAutofit/>
          </a:bodyPr>
          <a:lstStyle>
            <a:lvl1pPr marL="54864" indent="0">
              <a:buNone/>
              <a:defRPr sz="1600" b="0" i="0">
                <a:solidFill>
                  <a:srgbClr val="737373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#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23F921-1AD1-B769-7CCF-382ED893A164}"/>
              </a:ext>
            </a:extLst>
          </p:cNvPr>
          <p:cNvSpPr txBox="1"/>
          <p:nvPr userDrawn="1"/>
        </p:nvSpPr>
        <p:spPr>
          <a:xfrm>
            <a:off x="557784" y="194053"/>
            <a:ext cx="6353138" cy="64633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600" b="1" i="0" dirty="0">
                <a:solidFill>
                  <a:schemeClr val="accent4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rPr>
              <a:t>Table of contents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F09718-3F3C-53BA-CCF0-C8CD0DB29033}"/>
              </a:ext>
            </a:extLst>
          </p:cNvPr>
          <p:cNvSpPr txBox="1"/>
          <p:nvPr userDrawn="1"/>
        </p:nvSpPr>
        <p:spPr>
          <a:xfrm>
            <a:off x="8162579" y="6448503"/>
            <a:ext cx="3471636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 spc="300" baseline="0" dirty="0">
                <a:solidFill>
                  <a:srgbClr val="737373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FLAGSHIP PIONEERING COMPANY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B07E8B9-6E22-CEA4-BB13-088E19F1B8B8}"/>
              </a:ext>
            </a:extLst>
          </p:cNvPr>
          <p:cNvCxnSpPr>
            <a:cxnSpLocks/>
          </p:cNvCxnSpPr>
          <p:nvPr userDrawn="1"/>
        </p:nvCxnSpPr>
        <p:spPr>
          <a:xfrm>
            <a:off x="2037143" y="6556225"/>
            <a:ext cx="6485758" cy="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2" name="Picture 11" descr="A blue circle with black background&#10;&#10;Description automatically generated">
            <a:extLst>
              <a:ext uri="{FF2B5EF4-FFF2-40B4-BE49-F238E27FC236}">
                <a16:creationId xmlns:a16="http://schemas.microsoft.com/office/drawing/2014/main" id="{7E0116D6-43E7-9671-EE78-9C97112272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7784" y="6448503"/>
            <a:ext cx="1371600" cy="16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470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43D4CE-2DFA-60B4-E850-F49D270FA8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96BC10F-1B43-48C4-5603-FD630D35E2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68334" y="2542567"/>
            <a:ext cx="6319227" cy="2043301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 b="1" i="0">
                <a:solidFill>
                  <a:schemeClr val="accent4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Here Lorem Ipsum Dolor Sit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757CBC3-A472-D5F0-BEF4-8E4AB7A084E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68334" y="5032149"/>
            <a:ext cx="5388745" cy="681038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>
                <a:solidFill>
                  <a:srgbClr val="737373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subheading 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A871691-0235-768F-7170-068017B6D822}"/>
              </a:ext>
            </a:extLst>
          </p:cNvPr>
          <p:cNvCxnSpPr>
            <a:cxnSpLocks/>
          </p:cNvCxnSpPr>
          <p:nvPr userDrawn="1"/>
        </p:nvCxnSpPr>
        <p:spPr>
          <a:xfrm>
            <a:off x="5668334" y="4755322"/>
            <a:ext cx="5886559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0D9D5676-F150-8FC7-FF9D-31669B50F0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4297" y="6494570"/>
            <a:ext cx="447924" cy="174065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>
              <a:defRPr sz="1000" b="0" i="0">
                <a:solidFill>
                  <a:srgbClr val="73737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pPr algn="ctr"/>
            <a:fld id="{209C199A-EF54-9348-9404-88AE0CA7649E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B1CFE3-2E62-9C07-3CDC-E85D5B0EA12A}"/>
              </a:ext>
            </a:extLst>
          </p:cNvPr>
          <p:cNvSpPr txBox="1"/>
          <p:nvPr userDrawn="1"/>
        </p:nvSpPr>
        <p:spPr>
          <a:xfrm>
            <a:off x="8568752" y="6481575"/>
            <a:ext cx="2720622" cy="20005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 spc="300" baseline="0" dirty="0">
                <a:solidFill>
                  <a:schemeClr val="bg2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CONFIDENTIAL AND PROPRIETARY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FA36AC5-0776-6242-D3BE-D75FEA67B00A}"/>
              </a:ext>
            </a:extLst>
          </p:cNvPr>
          <p:cNvCxnSpPr>
            <a:cxnSpLocks/>
          </p:cNvCxnSpPr>
          <p:nvPr userDrawn="1"/>
        </p:nvCxnSpPr>
        <p:spPr>
          <a:xfrm>
            <a:off x="2034306" y="6581602"/>
            <a:ext cx="6429524" cy="2305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4" name="Picture 3" descr="A blue circle with black background&#10;&#10;Description automatically generated">
            <a:extLst>
              <a:ext uri="{FF2B5EF4-FFF2-40B4-BE49-F238E27FC236}">
                <a16:creationId xmlns:a16="http://schemas.microsoft.com/office/drawing/2014/main" id="{78394694-947C-BE6F-866D-C9041BB4242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7784" y="6496841"/>
            <a:ext cx="1371600" cy="16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2037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DA537F0-A50E-9046-3153-976384692A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96BC10F-1B43-48C4-5603-FD630D35E2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9914" y="2542567"/>
            <a:ext cx="6319227" cy="2043301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 b="1" i="0">
                <a:solidFill>
                  <a:schemeClr val="accent4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Here Lorem Ipsum Dolor Sit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757CBC3-A472-D5F0-BEF4-8E4AB7A084E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9914" y="4959320"/>
            <a:ext cx="5388745" cy="681038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>
                <a:solidFill>
                  <a:srgbClr val="737373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subheading 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A871691-0235-768F-7170-068017B6D822}"/>
              </a:ext>
            </a:extLst>
          </p:cNvPr>
          <p:cNvCxnSpPr>
            <a:cxnSpLocks/>
          </p:cNvCxnSpPr>
          <p:nvPr userDrawn="1"/>
        </p:nvCxnSpPr>
        <p:spPr>
          <a:xfrm>
            <a:off x="529914" y="4755322"/>
            <a:ext cx="5886559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C818478-6924-34BC-E15C-2CE78542AD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4297" y="6494570"/>
            <a:ext cx="447924" cy="17406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000" b="0" i="0">
                <a:solidFill>
                  <a:srgbClr val="73737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fld id="{209C199A-EF54-9348-9404-88AE0CA7649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04B75F-7B9F-4734-949A-5FD36A0AF8C6}"/>
              </a:ext>
            </a:extLst>
          </p:cNvPr>
          <p:cNvSpPr txBox="1"/>
          <p:nvPr userDrawn="1"/>
        </p:nvSpPr>
        <p:spPr>
          <a:xfrm>
            <a:off x="8568752" y="6481575"/>
            <a:ext cx="2720622" cy="20005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 spc="300" baseline="0" dirty="0">
                <a:solidFill>
                  <a:srgbClr val="737373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CONFIDENTIAL AND PROPRIETARY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5385486-AC4C-A77C-57F6-74DDC8727384}"/>
              </a:ext>
            </a:extLst>
          </p:cNvPr>
          <p:cNvCxnSpPr>
            <a:cxnSpLocks/>
          </p:cNvCxnSpPr>
          <p:nvPr userDrawn="1"/>
        </p:nvCxnSpPr>
        <p:spPr>
          <a:xfrm>
            <a:off x="2034306" y="6581602"/>
            <a:ext cx="6429524" cy="2305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1" name="Picture 10" descr="A blue circle with black background&#10;&#10;Description automatically generated">
            <a:extLst>
              <a:ext uri="{FF2B5EF4-FFF2-40B4-BE49-F238E27FC236}">
                <a16:creationId xmlns:a16="http://schemas.microsoft.com/office/drawing/2014/main" id="{3321065B-4BE0-EAC1-B228-5315513A3A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7784" y="6496841"/>
            <a:ext cx="1371600" cy="16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4169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32C565A-0837-B071-E0E9-26F906CF55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96BC10F-1B43-48C4-5603-FD630D35E2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1822" y="2542567"/>
            <a:ext cx="6319227" cy="2043301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 b="1" i="0">
                <a:solidFill>
                  <a:schemeClr val="accent4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Here Lorem Ipsum Dolor Sit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757CBC3-A472-D5F0-BEF4-8E4AB7A084E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1822" y="5032149"/>
            <a:ext cx="5388745" cy="681038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>
                <a:solidFill>
                  <a:srgbClr val="737373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subheading 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A871691-0235-768F-7170-068017B6D822}"/>
              </a:ext>
            </a:extLst>
          </p:cNvPr>
          <p:cNvCxnSpPr>
            <a:cxnSpLocks/>
          </p:cNvCxnSpPr>
          <p:nvPr userDrawn="1"/>
        </p:nvCxnSpPr>
        <p:spPr>
          <a:xfrm>
            <a:off x="521822" y="4755322"/>
            <a:ext cx="5886559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0A93C4C-05A6-C559-1B54-9667308F03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4297" y="6494570"/>
            <a:ext cx="447924" cy="17406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000" b="0" i="0">
                <a:solidFill>
                  <a:srgbClr val="73737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fld id="{209C199A-EF54-9348-9404-88AE0CA7649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EFCB4D-3579-67CD-C584-12A731CA027C}"/>
              </a:ext>
            </a:extLst>
          </p:cNvPr>
          <p:cNvSpPr txBox="1"/>
          <p:nvPr userDrawn="1"/>
        </p:nvSpPr>
        <p:spPr>
          <a:xfrm>
            <a:off x="8568752" y="6481575"/>
            <a:ext cx="2720622" cy="20005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 spc="300" baseline="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CONFIDENTIAL AND PROPRIETARY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E637336-0332-1540-DA24-B6ACDE2EBEFA}"/>
              </a:ext>
            </a:extLst>
          </p:cNvPr>
          <p:cNvCxnSpPr>
            <a:cxnSpLocks/>
          </p:cNvCxnSpPr>
          <p:nvPr userDrawn="1"/>
        </p:nvCxnSpPr>
        <p:spPr>
          <a:xfrm>
            <a:off x="2034306" y="6581602"/>
            <a:ext cx="6429524" cy="2305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2" name="Picture 11" descr="A blue circle with black background&#10;&#10;Description automatically generated">
            <a:extLst>
              <a:ext uri="{FF2B5EF4-FFF2-40B4-BE49-F238E27FC236}">
                <a16:creationId xmlns:a16="http://schemas.microsoft.com/office/drawing/2014/main" id="{5AEDC35C-06A9-CDB8-FFAE-C247A7C7C74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7784" y="6496841"/>
            <a:ext cx="1371600" cy="16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4087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FF1F7FE-4574-43FD-9AC0-49CBB3AAFE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96BC10F-1B43-48C4-5603-FD630D35E2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33148" y="2996953"/>
            <a:ext cx="6319227" cy="185944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 b="1" i="0">
                <a:solidFill>
                  <a:schemeClr val="accent4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Here Lorem Ipsum Dolor Sit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757CBC3-A472-D5F0-BEF4-8E4AB7A084E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33148" y="5302676"/>
            <a:ext cx="5388745" cy="681038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>
                <a:solidFill>
                  <a:srgbClr val="737373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subheading 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A871691-0235-768F-7170-068017B6D822}"/>
              </a:ext>
            </a:extLst>
          </p:cNvPr>
          <p:cNvCxnSpPr>
            <a:cxnSpLocks/>
          </p:cNvCxnSpPr>
          <p:nvPr userDrawn="1"/>
        </p:nvCxnSpPr>
        <p:spPr>
          <a:xfrm>
            <a:off x="4333148" y="5025849"/>
            <a:ext cx="5886559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4D7BDFD-31E9-F8F0-79F1-45BDEB7BCE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4297" y="6494570"/>
            <a:ext cx="447924" cy="17406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000" b="0" i="0">
                <a:solidFill>
                  <a:srgbClr val="73737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fld id="{209C199A-EF54-9348-9404-88AE0CA7649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C09C08-0C65-E2D8-8618-2C76D1B7342A}"/>
              </a:ext>
            </a:extLst>
          </p:cNvPr>
          <p:cNvSpPr txBox="1"/>
          <p:nvPr userDrawn="1"/>
        </p:nvSpPr>
        <p:spPr>
          <a:xfrm>
            <a:off x="8568752" y="6481575"/>
            <a:ext cx="2720622" cy="20005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 spc="300" baseline="0" dirty="0">
                <a:solidFill>
                  <a:srgbClr val="737373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CONFIDENTIAL AND PROPRIETARY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C9EA44-0319-8D9D-2870-FE2FD5D183DB}"/>
              </a:ext>
            </a:extLst>
          </p:cNvPr>
          <p:cNvCxnSpPr>
            <a:cxnSpLocks/>
          </p:cNvCxnSpPr>
          <p:nvPr userDrawn="1"/>
        </p:nvCxnSpPr>
        <p:spPr>
          <a:xfrm>
            <a:off x="2034306" y="6581602"/>
            <a:ext cx="6429524" cy="2305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2" name="Picture 11" descr="A blue circle with black background&#10;&#10;Description automatically generated">
            <a:extLst>
              <a:ext uri="{FF2B5EF4-FFF2-40B4-BE49-F238E27FC236}">
                <a16:creationId xmlns:a16="http://schemas.microsoft.com/office/drawing/2014/main" id="{3C6BA25A-D262-817C-C14B-ED20CCBCE9C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7784" y="6496841"/>
            <a:ext cx="1371600" cy="16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6392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03B517A-ED6B-909B-A106-6D77587964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397" y="410129"/>
            <a:ext cx="10559060" cy="49933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b="1" i="0"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Slide Heading Goes Here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B5F4232-168F-F0CE-572E-191AD6B1981C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40080" y="1401837"/>
            <a:ext cx="10911840" cy="4592564"/>
          </a:xfrm>
        </p:spPr>
        <p:txBody>
          <a:bodyPr>
            <a:noAutofit/>
          </a:bodyPr>
          <a:lstStyle>
            <a:lvl1pPr>
              <a:buClr>
                <a:schemeClr val="accent6">
                  <a:lumMod val="50000"/>
                </a:schemeClr>
              </a:buClr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  <a:lvl2pPr>
              <a:buClr>
                <a:schemeClr val="accent6">
                  <a:lumMod val="50000"/>
                </a:schemeClr>
              </a:buClr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2pPr>
            <a:lvl3pPr>
              <a:buClr>
                <a:schemeClr val="accent6">
                  <a:lumMod val="50000"/>
                </a:schemeClr>
              </a:buClr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3pPr>
            <a:lvl4pPr>
              <a:buClr>
                <a:schemeClr val="accent6">
                  <a:lumMod val="50000"/>
                </a:schemeClr>
              </a:buClr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4pPr>
            <a:lvl5pPr>
              <a:buClr>
                <a:schemeClr val="accent6">
                  <a:lumMod val="50000"/>
                </a:schemeClr>
              </a:buClr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ACBC0B9-A5F5-2915-CBDC-29FFD7DC65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4297" y="6494570"/>
            <a:ext cx="447924" cy="17406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000" b="0" i="0">
                <a:solidFill>
                  <a:srgbClr val="73737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fld id="{209C199A-EF54-9348-9404-88AE0CA7649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B0C175-C745-8EF7-EF79-5B17FCB1F80B}"/>
              </a:ext>
            </a:extLst>
          </p:cNvPr>
          <p:cNvSpPr txBox="1"/>
          <p:nvPr userDrawn="1"/>
        </p:nvSpPr>
        <p:spPr>
          <a:xfrm>
            <a:off x="8568752" y="6481575"/>
            <a:ext cx="2720622" cy="20005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 spc="300" baseline="0" dirty="0">
                <a:solidFill>
                  <a:srgbClr val="737373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CONFIDENTIAL AND PROPRIETARY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2CB0DEC-B46B-F0D9-BB49-D3FB5C4B82A1}"/>
              </a:ext>
            </a:extLst>
          </p:cNvPr>
          <p:cNvCxnSpPr>
            <a:cxnSpLocks/>
          </p:cNvCxnSpPr>
          <p:nvPr userDrawn="1"/>
        </p:nvCxnSpPr>
        <p:spPr>
          <a:xfrm>
            <a:off x="2034306" y="6581602"/>
            <a:ext cx="6429524" cy="2305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0" name="Picture 9" descr="A blue circle with black background&#10;&#10;Description automatically generated">
            <a:extLst>
              <a:ext uri="{FF2B5EF4-FFF2-40B4-BE49-F238E27FC236}">
                <a16:creationId xmlns:a16="http://schemas.microsoft.com/office/drawing/2014/main" id="{0AF49B5D-06EE-C43E-DA46-E0B0160F95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7784" y="6496841"/>
            <a:ext cx="1371600" cy="16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832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C49AE71-9AC5-BEA1-5890-3EDD2ADC44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397" y="410129"/>
            <a:ext cx="10559060" cy="49933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b="1" i="0"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Slide Heading Goes Here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31744B44-EA19-5237-C497-6DF79F8D5A1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389405" y="1401837"/>
            <a:ext cx="5303207" cy="4592564"/>
          </a:xfrm>
        </p:spPr>
        <p:txBody>
          <a:bodyPr>
            <a:noAutofit/>
          </a:bodyPr>
          <a:lstStyle>
            <a:lvl1pPr>
              <a:buClr>
                <a:schemeClr val="accent6">
                  <a:lumMod val="50000"/>
                </a:schemeClr>
              </a:buClr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  <a:lvl2pPr>
              <a:buClr>
                <a:schemeClr val="accent6">
                  <a:lumMod val="50000"/>
                </a:schemeClr>
              </a:buClr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2pPr>
            <a:lvl3pPr>
              <a:buClr>
                <a:schemeClr val="accent6">
                  <a:lumMod val="50000"/>
                </a:schemeClr>
              </a:buClr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3pPr>
            <a:lvl4pPr>
              <a:buClr>
                <a:schemeClr val="accent6">
                  <a:lumMod val="50000"/>
                </a:schemeClr>
              </a:buClr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4pPr>
            <a:lvl5pPr>
              <a:buClr>
                <a:schemeClr val="accent6">
                  <a:lumMod val="50000"/>
                </a:schemeClr>
              </a:buClr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BC2D7A6A-B6F6-B54C-E732-26C3905597F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67725" y="1401837"/>
            <a:ext cx="5303207" cy="4592564"/>
          </a:xfrm>
        </p:spPr>
        <p:txBody>
          <a:bodyPr>
            <a:noAutofit/>
          </a:bodyPr>
          <a:lstStyle>
            <a:lvl1pPr>
              <a:buClr>
                <a:schemeClr val="accent6">
                  <a:lumMod val="50000"/>
                </a:schemeClr>
              </a:buClr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  <a:lvl2pPr>
              <a:buClr>
                <a:schemeClr val="accent6">
                  <a:lumMod val="50000"/>
                </a:schemeClr>
              </a:buClr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2pPr>
            <a:lvl3pPr>
              <a:buClr>
                <a:schemeClr val="accent6">
                  <a:lumMod val="50000"/>
                </a:schemeClr>
              </a:buClr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3pPr>
            <a:lvl4pPr>
              <a:buClr>
                <a:schemeClr val="accent6">
                  <a:lumMod val="50000"/>
                </a:schemeClr>
              </a:buClr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4pPr>
            <a:lvl5pPr>
              <a:buClr>
                <a:schemeClr val="accent6">
                  <a:lumMod val="50000"/>
                </a:schemeClr>
              </a:buClr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A5A7262-91CC-33CC-214E-DB0C44B681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4297" y="6494570"/>
            <a:ext cx="447924" cy="17406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000" b="0" i="0">
                <a:solidFill>
                  <a:srgbClr val="73737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fld id="{209C199A-EF54-9348-9404-88AE0CA7649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2C2555-F686-6736-9CA8-C78C37D236B6}"/>
              </a:ext>
            </a:extLst>
          </p:cNvPr>
          <p:cNvSpPr txBox="1"/>
          <p:nvPr userDrawn="1"/>
        </p:nvSpPr>
        <p:spPr>
          <a:xfrm>
            <a:off x="8568752" y="6481575"/>
            <a:ext cx="2720622" cy="20005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 spc="300" baseline="0" dirty="0">
                <a:solidFill>
                  <a:srgbClr val="737373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CONFIDENTIAL AND PROPRIETARY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FCDA0D8-B5A7-3080-1FF9-B5BC9A3BB2D4}"/>
              </a:ext>
            </a:extLst>
          </p:cNvPr>
          <p:cNvCxnSpPr>
            <a:cxnSpLocks/>
          </p:cNvCxnSpPr>
          <p:nvPr userDrawn="1"/>
        </p:nvCxnSpPr>
        <p:spPr>
          <a:xfrm>
            <a:off x="2034306" y="6581602"/>
            <a:ext cx="6429524" cy="2305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 descr="A blue circle with black background&#10;&#10;Description automatically generated">
            <a:extLst>
              <a:ext uri="{FF2B5EF4-FFF2-40B4-BE49-F238E27FC236}">
                <a16:creationId xmlns:a16="http://schemas.microsoft.com/office/drawing/2014/main" id="{C0D16789-0CFE-85DB-54A0-E34229C8DC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7784" y="6496841"/>
            <a:ext cx="1371600" cy="16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061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Imag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9F3975A-CECF-DB3F-20FA-1E7FD094EC2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67725" y="1401837"/>
            <a:ext cx="5303207" cy="4592564"/>
          </a:xfrm>
        </p:spPr>
        <p:txBody>
          <a:bodyPr>
            <a:noAutofit/>
          </a:bodyPr>
          <a:lstStyle>
            <a:lvl1pPr>
              <a:buClr>
                <a:schemeClr val="accent6">
                  <a:lumMod val="50000"/>
                </a:schemeClr>
              </a:buClr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  <a:lvl2pPr>
              <a:buClr>
                <a:schemeClr val="accent6">
                  <a:lumMod val="50000"/>
                </a:schemeClr>
              </a:buClr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2pPr>
            <a:lvl3pPr>
              <a:buClr>
                <a:schemeClr val="accent6">
                  <a:lumMod val="50000"/>
                </a:schemeClr>
              </a:buClr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3pPr>
            <a:lvl4pPr>
              <a:buClr>
                <a:schemeClr val="accent6">
                  <a:lumMod val="50000"/>
                </a:schemeClr>
              </a:buClr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4pPr>
            <a:lvl5pPr>
              <a:buClr>
                <a:schemeClr val="accent6">
                  <a:lumMod val="50000"/>
                </a:schemeClr>
              </a:buClr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90B0FFAF-6776-2B32-BB2E-F42E57B0538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22112" y="1308241"/>
            <a:ext cx="5212103" cy="4758349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4E8D76D-F4A6-BC95-E6E1-877818E3D9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397" y="410129"/>
            <a:ext cx="10559060" cy="49933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b="1" i="0"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Slide Heading Goes Here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AA83541-9E30-8A47-639E-29EC7F8042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4297" y="6494570"/>
            <a:ext cx="447924" cy="17406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000" b="0" i="0">
                <a:solidFill>
                  <a:srgbClr val="73737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fld id="{209C199A-EF54-9348-9404-88AE0CA7649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A3C4B5-6041-5413-0FD1-C3AC2F522A00}"/>
              </a:ext>
            </a:extLst>
          </p:cNvPr>
          <p:cNvSpPr txBox="1"/>
          <p:nvPr userDrawn="1"/>
        </p:nvSpPr>
        <p:spPr>
          <a:xfrm>
            <a:off x="8568752" y="6481575"/>
            <a:ext cx="2720622" cy="20005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 spc="300" baseline="0" dirty="0">
                <a:solidFill>
                  <a:srgbClr val="737373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CONFIDENTIAL AND PROPRIETARY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823FDA-8766-69B5-BFF9-AEE69F3EA0DC}"/>
              </a:ext>
            </a:extLst>
          </p:cNvPr>
          <p:cNvCxnSpPr>
            <a:cxnSpLocks/>
          </p:cNvCxnSpPr>
          <p:nvPr userDrawn="1"/>
        </p:nvCxnSpPr>
        <p:spPr>
          <a:xfrm>
            <a:off x="2034306" y="6581602"/>
            <a:ext cx="6429524" cy="2305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0" name="Picture 9" descr="A blue circle with black background&#10;&#10;Description automatically generated">
            <a:extLst>
              <a:ext uri="{FF2B5EF4-FFF2-40B4-BE49-F238E27FC236}">
                <a16:creationId xmlns:a16="http://schemas.microsoft.com/office/drawing/2014/main" id="{6B558065-94A5-32CA-248F-ADE531AC25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7784" y="6496841"/>
            <a:ext cx="1371600" cy="16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435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hree Conten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A10B87E-5868-430A-CBBF-EEB9ACC4FDC4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67725" y="1401837"/>
            <a:ext cx="3282915" cy="4592564"/>
          </a:xfrm>
        </p:spPr>
        <p:txBody>
          <a:bodyPr>
            <a:noAutofit/>
          </a:bodyPr>
          <a:lstStyle>
            <a:lvl1pPr>
              <a:buClr>
                <a:schemeClr val="accent6">
                  <a:lumMod val="50000"/>
                </a:schemeClr>
              </a:buClr>
              <a:defRPr sz="18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  <a:lvl2pPr>
              <a:buClr>
                <a:schemeClr val="accent6">
                  <a:lumMod val="50000"/>
                </a:schemeClr>
              </a:buClr>
              <a:defRPr sz="18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2pPr>
            <a:lvl3pPr>
              <a:buClr>
                <a:schemeClr val="accent6">
                  <a:lumMod val="50000"/>
                </a:schemeClr>
              </a:buClr>
              <a:defRPr sz="18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3pPr>
            <a:lvl4pPr>
              <a:buClr>
                <a:schemeClr val="accent6">
                  <a:lumMod val="50000"/>
                </a:schemeClr>
              </a:buClr>
              <a:defRPr sz="18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4pPr>
            <a:lvl5pPr>
              <a:buClr>
                <a:schemeClr val="accent6">
                  <a:lumMod val="50000"/>
                </a:schemeClr>
              </a:buClr>
              <a:defRPr sz="18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AD43378E-34E8-03AC-A380-5D41CA284A2B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448845" y="1401837"/>
            <a:ext cx="3282915" cy="4592564"/>
          </a:xfrm>
        </p:spPr>
        <p:txBody>
          <a:bodyPr>
            <a:noAutofit/>
          </a:bodyPr>
          <a:lstStyle>
            <a:lvl1pPr>
              <a:buClr>
                <a:schemeClr val="accent6">
                  <a:lumMod val="50000"/>
                </a:schemeClr>
              </a:buClr>
              <a:defRPr sz="18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  <a:lvl2pPr>
              <a:buClr>
                <a:schemeClr val="accent6">
                  <a:lumMod val="50000"/>
                </a:schemeClr>
              </a:buClr>
              <a:defRPr sz="18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2pPr>
            <a:lvl3pPr>
              <a:buClr>
                <a:schemeClr val="accent6">
                  <a:lumMod val="50000"/>
                </a:schemeClr>
              </a:buClr>
              <a:defRPr sz="18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3pPr>
            <a:lvl4pPr>
              <a:buClr>
                <a:schemeClr val="accent6">
                  <a:lumMod val="50000"/>
                </a:schemeClr>
              </a:buClr>
              <a:defRPr sz="18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4pPr>
            <a:lvl5pPr>
              <a:buClr>
                <a:schemeClr val="accent6">
                  <a:lumMod val="50000"/>
                </a:schemeClr>
              </a:buClr>
              <a:defRPr sz="18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60CF4D8-9F90-3874-904A-0900425D3433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451885" y="1401837"/>
            <a:ext cx="3282915" cy="4592564"/>
          </a:xfrm>
        </p:spPr>
        <p:txBody>
          <a:bodyPr>
            <a:noAutofit/>
          </a:bodyPr>
          <a:lstStyle>
            <a:lvl1pPr>
              <a:buClr>
                <a:schemeClr val="accent6">
                  <a:lumMod val="50000"/>
                </a:schemeClr>
              </a:buClr>
              <a:defRPr sz="18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  <a:lvl2pPr>
              <a:buClr>
                <a:schemeClr val="accent6">
                  <a:lumMod val="50000"/>
                </a:schemeClr>
              </a:buClr>
              <a:defRPr sz="18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2pPr>
            <a:lvl3pPr>
              <a:buClr>
                <a:schemeClr val="accent6">
                  <a:lumMod val="50000"/>
                </a:schemeClr>
              </a:buClr>
              <a:defRPr sz="18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3pPr>
            <a:lvl4pPr>
              <a:buClr>
                <a:schemeClr val="accent6">
                  <a:lumMod val="50000"/>
                </a:schemeClr>
              </a:buClr>
              <a:defRPr sz="18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4pPr>
            <a:lvl5pPr>
              <a:buClr>
                <a:schemeClr val="accent6">
                  <a:lumMod val="50000"/>
                </a:schemeClr>
              </a:buClr>
              <a:defRPr sz="18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7FC7EEE-212A-A8E1-5C8A-FFF9980200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397" y="410129"/>
            <a:ext cx="10559060" cy="49933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b="1" i="0"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Slide Heading Goes Here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81682D2-C38F-60EB-BC6F-0A10E2EB03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4297" y="6494570"/>
            <a:ext cx="447924" cy="17406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000" b="0" i="0">
                <a:solidFill>
                  <a:srgbClr val="73737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fld id="{209C199A-EF54-9348-9404-88AE0CA7649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9A716F-760F-A78C-6D0B-B99D1051CC00}"/>
              </a:ext>
            </a:extLst>
          </p:cNvPr>
          <p:cNvSpPr txBox="1"/>
          <p:nvPr userDrawn="1"/>
        </p:nvSpPr>
        <p:spPr>
          <a:xfrm>
            <a:off x="8568752" y="6481575"/>
            <a:ext cx="2720622" cy="20005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 spc="300" baseline="0" dirty="0">
                <a:solidFill>
                  <a:srgbClr val="737373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CONFIDENTIAL AND PROPRIETARY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D1F306A-C34C-CB7A-60F4-76A6D7E97BCF}"/>
              </a:ext>
            </a:extLst>
          </p:cNvPr>
          <p:cNvCxnSpPr>
            <a:cxnSpLocks/>
          </p:cNvCxnSpPr>
          <p:nvPr userDrawn="1"/>
        </p:nvCxnSpPr>
        <p:spPr>
          <a:xfrm>
            <a:off x="2034306" y="6581602"/>
            <a:ext cx="6429524" cy="2305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 descr="A blue circle with black background&#10;&#10;Description automatically generated">
            <a:extLst>
              <a:ext uri="{FF2B5EF4-FFF2-40B4-BE49-F238E27FC236}">
                <a16:creationId xmlns:a16="http://schemas.microsoft.com/office/drawing/2014/main" id="{72C83DB8-7390-F0D2-66FE-28366DCBC4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7784" y="6496841"/>
            <a:ext cx="1371600" cy="16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490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Statemen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D47428E5-B51A-E59C-D81D-B5537C4F6A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2993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02378D8-A031-F7C0-0623-3ED1BA5B21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615" y="1173401"/>
            <a:ext cx="9524770" cy="451119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7200" b="0" i="0">
                <a:solidFill>
                  <a:srgbClr val="FFFFFF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Large statement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A0E6B0-3717-A6B4-1ED1-501A06D1AF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53640" y="6479020"/>
            <a:ext cx="1371600" cy="217714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63A1CAE-9B89-5CE2-1B1F-72DD89E74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4297" y="6494570"/>
            <a:ext cx="447924" cy="17406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000" b="0" i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fld id="{209C199A-EF54-9348-9404-88AE0CA7649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62EBA8-BD56-7095-3DD6-651902C46290}"/>
              </a:ext>
            </a:extLst>
          </p:cNvPr>
          <p:cNvSpPr txBox="1"/>
          <p:nvPr userDrawn="1"/>
        </p:nvSpPr>
        <p:spPr>
          <a:xfrm>
            <a:off x="8568752" y="6481575"/>
            <a:ext cx="2720622" cy="20005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 spc="300" baseline="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CONFIDENTIAL AND PROPRIETARY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7A8CD71-CE4D-E045-CCAE-6C881964C48E}"/>
              </a:ext>
            </a:extLst>
          </p:cNvPr>
          <p:cNvCxnSpPr>
            <a:cxnSpLocks/>
          </p:cNvCxnSpPr>
          <p:nvPr userDrawn="1"/>
        </p:nvCxnSpPr>
        <p:spPr>
          <a:xfrm>
            <a:off x="2034306" y="6581602"/>
            <a:ext cx="6429524" cy="2305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74921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E8D3A04-ACE6-5F81-D671-8E9EEA42F9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397" y="410129"/>
            <a:ext cx="10559060" cy="49933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b="1" i="0"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Slide Heading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84A62-5B64-1118-6F3C-16822D1CA2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4297" y="6494570"/>
            <a:ext cx="447924" cy="17406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000" b="0" i="0">
                <a:solidFill>
                  <a:srgbClr val="73737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fld id="{209C199A-EF54-9348-9404-88AE0CA7649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CE6B67-8042-AD41-EDE9-DF7101FF12DD}"/>
              </a:ext>
            </a:extLst>
          </p:cNvPr>
          <p:cNvSpPr txBox="1"/>
          <p:nvPr userDrawn="1"/>
        </p:nvSpPr>
        <p:spPr>
          <a:xfrm>
            <a:off x="8568752" y="6481575"/>
            <a:ext cx="2720622" cy="20005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 spc="300" baseline="0" dirty="0">
                <a:solidFill>
                  <a:srgbClr val="737373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CONFIDENTIAL AND PROPRIETARY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EA180D5-DED1-FCA6-AD6D-1F014B380B65}"/>
              </a:ext>
            </a:extLst>
          </p:cNvPr>
          <p:cNvCxnSpPr>
            <a:cxnSpLocks/>
          </p:cNvCxnSpPr>
          <p:nvPr userDrawn="1"/>
        </p:nvCxnSpPr>
        <p:spPr>
          <a:xfrm>
            <a:off x="2034306" y="6581602"/>
            <a:ext cx="6429524" cy="2305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0" name="Picture 9" descr="A blue circle with black background&#10;&#10;Description automatically generated">
            <a:extLst>
              <a:ext uri="{FF2B5EF4-FFF2-40B4-BE49-F238E27FC236}">
                <a16:creationId xmlns:a16="http://schemas.microsoft.com/office/drawing/2014/main" id="{E18E1F99-995D-3077-7499-2A3AA66D5E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7784" y="6496841"/>
            <a:ext cx="1371600" cy="16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278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3AF349C-CE31-676F-DEA9-6B69B9F4E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4297" y="6494570"/>
            <a:ext cx="447924" cy="174065"/>
          </a:xfrm>
          <a:prstGeom prst="rect">
            <a:avLst/>
          </a:prstGeom>
        </p:spPr>
        <p:txBody>
          <a:bodyPr anchor="ctr"/>
          <a:lstStyle>
            <a:lvl1pPr algn="ctr">
              <a:defRPr sz="1000" b="0" i="0">
                <a:solidFill>
                  <a:srgbClr val="73737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fld id="{209C199A-EF54-9348-9404-88AE0CA7649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01B9CC-B347-D0BD-EF7D-4746C6F429E4}"/>
              </a:ext>
            </a:extLst>
          </p:cNvPr>
          <p:cNvSpPr txBox="1"/>
          <p:nvPr userDrawn="1"/>
        </p:nvSpPr>
        <p:spPr>
          <a:xfrm>
            <a:off x="8568752" y="6481575"/>
            <a:ext cx="2720622" cy="20005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 spc="300" baseline="0" dirty="0">
                <a:solidFill>
                  <a:srgbClr val="737373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CONFIDENTIAL AND PROPRIETARY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A2A90A-EEDB-7CC2-A3AE-F7F975253E0B}"/>
              </a:ext>
            </a:extLst>
          </p:cNvPr>
          <p:cNvCxnSpPr>
            <a:cxnSpLocks/>
          </p:cNvCxnSpPr>
          <p:nvPr userDrawn="1"/>
        </p:nvCxnSpPr>
        <p:spPr>
          <a:xfrm>
            <a:off x="2034306" y="6581602"/>
            <a:ext cx="6429524" cy="2305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 descr="A blue circle with black background&#10;&#10;Description automatically generated">
            <a:extLst>
              <a:ext uri="{FF2B5EF4-FFF2-40B4-BE49-F238E27FC236}">
                <a16:creationId xmlns:a16="http://schemas.microsoft.com/office/drawing/2014/main" id="{56F18C3E-41C8-ED76-2E95-9D5BA8E416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7784" y="6496841"/>
            <a:ext cx="1371600" cy="16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0949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0192DF-4F42-43FC-45D3-8ED8018A79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2F04D34-CF40-DEA2-E8A0-C297131234B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57784" y="4563633"/>
            <a:ext cx="5593053" cy="1172583"/>
          </a:xfrm>
        </p:spPr>
        <p:txBody>
          <a:bodyPr>
            <a:noAutofit/>
          </a:bodyPr>
          <a:lstStyle>
            <a:lvl1pPr marL="0" indent="0">
              <a:buNone/>
              <a:defRPr sz="2000" b="0" i="0">
                <a:solidFill>
                  <a:srgbClr val="737373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First Name Last Name</a:t>
            </a:r>
          </a:p>
          <a:p>
            <a:pPr lvl="0"/>
            <a:r>
              <a:rPr lang="en-US" dirty="0"/>
              <a:t>Email Address</a:t>
            </a:r>
          </a:p>
          <a:p>
            <a:pPr lvl="0"/>
            <a:r>
              <a:rPr lang="en-US" dirty="0"/>
              <a:t>Position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EF9A1F44-EF67-9D69-B451-02E45F3E8C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784" y="1994785"/>
            <a:ext cx="5593053" cy="7759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5400" b="1" i="0">
                <a:solidFill>
                  <a:schemeClr val="accent4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Thank you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7FBA00-1B49-E24C-C0C1-9AF0806F8193}"/>
              </a:ext>
            </a:extLst>
          </p:cNvPr>
          <p:cNvCxnSpPr/>
          <p:nvPr userDrawn="1"/>
        </p:nvCxnSpPr>
        <p:spPr>
          <a:xfrm>
            <a:off x="557784" y="4289414"/>
            <a:ext cx="6319227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6041639-E85E-3576-F698-E6FAE6E43F40}"/>
              </a:ext>
            </a:extLst>
          </p:cNvPr>
          <p:cNvSpPr txBox="1"/>
          <p:nvPr userDrawn="1"/>
        </p:nvSpPr>
        <p:spPr>
          <a:xfrm>
            <a:off x="8162579" y="6448503"/>
            <a:ext cx="3471636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 spc="300" baseline="0" dirty="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FLAGSHIP PIONEERING COMPANY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BF46A2F-B42F-35E9-84C6-9A84CBDE626E}"/>
              </a:ext>
            </a:extLst>
          </p:cNvPr>
          <p:cNvCxnSpPr>
            <a:cxnSpLocks/>
          </p:cNvCxnSpPr>
          <p:nvPr userDrawn="1"/>
        </p:nvCxnSpPr>
        <p:spPr>
          <a:xfrm>
            <a:off x="590386" y="6532482"/>
            <a:ext cx="7967240" cy="23743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8" name="Picture 7" descr="A blue circle with black background&#10;&#10;Description automatically generated">
            <a:extLst>
              <a:ext uri="{FF2B5EF4-FFF2-40B4-BE49-F238E27FC236}">
                <a16:creationId xmlns:a16="http://schemas.microsoft.com/office/drawing/2014/main" id="{21D870FC-A9BC-44DF-1D1D-1ED288D56FF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7784" y="722530"/>
            <a:ext cx="2614930" cy="323193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9A61D765-CCAD-ED1D-A947-33983A119464}"/>
              </a:ext>
            </a:extLst>
          </p:cNvPr>
          <p:cNvSpPr txBox="1">
            <a:spLocks/>
          </p:cNvSpPr>
          <p:nvPr userDrawn="1"/>
        </p:nvSpPr>
        <p:spPr>
          <a:xfrm>
            <a:off x="559397" y="3666164"/>
            <a:ext cx="10423563" cy="499336"/>
          </a:xfrm>
          <a:prstGeom prst="rect">
            <a:avLst/>
          </a:prstGeom>
        </p:spPr>
        <p:txBody>
          <a:bodyPr vert="horz" wrap="square" lIns="45720" tIns="45720" rIns="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0" i="0" kern="1200">
                <a:solidFill>
                  <a:schemeClr val="accent4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r>
              <a:rPr lang="en-US" b="1" i="0" dirty="0">
                <a:latin typeface="Arial" panose="020B0604020202020204" pitchFamily="34" charset="0"/>
                <a:cs typeface="Arial" panose="020B0604020202020204" pitchFamily="34" charset="0"/>
              </a:rPr>
              <a:t>Contact Us</a:t>
            </a:r>
          </a:p>
        </p:txBody>
      </p:sp>
    </p:spTree>
    <p:extLst>
      <p:ext uri="{BB962C8B-B14F-4D97-AF65-F5344CB8AC3E}">
        <p14:creationId xmlns:p14="http://schemas.microsoft.com/office/powerpoint/2010/main" val="123847947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tags" Target="../tags/tag1.xml"/><Relationship Id="rId18" Type="http://schemas.openxmlformats.org/officeDocument/2006/relationships/oleObject" Target="../embeddings/oleObject1.bin"/><Relationship Id="rId1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cell data - do not delete" hidden="1">
            <a:extLst>
              <a:ext uri="{FF2B5EF4-FFF2-40B4-BE49-F238E27FC236}">
                <a16:creationId xmlns:a16="http://schemas.microsoft.com/office/drawing/2014/main" id="{D99AC9D9-F2D5-58F6-5034-4413FCD0C4C5}"/>
              </a:ext>
            </a:extLst>
          </p:cNvPr>
          <p:cNvGraphicFramePr>
            <a:graphicFrameLocks/>
          </p:cNvGraphicFramePr>
          <p:nvPr userDrawn="1">
            <p:custDataLst>
              <p:tags r:id="rId17"/>
            </p:custDataLst>
            <p:extLst>
              <p:ext uri="{D42A27DB-BD31-4B8C-83A1-F6EECF244321}">
                <p14:modId xmlns:p14="http://schemas.microsoft.com/office/powerpoint/2010/main" val="133233918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18" imgW="7772400" imgH="10058400" progId="TCLayout.ActiveDocument.1">
                  <p:embed/>
                </p:oleObj>
              </mc:Choice>
              <mc:Fallback>
                <p:oleObj name="thinkcell Slide" r:id="rId18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494417-9CA8-9B56-6FC4-7962A157B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397" y="365125"/>
            <a:ext cx="11058862" cy="1325563"/>
          </a:xfrm>
          <a:prstGeom prst="rect">
            <a:avLst/>
          </a:prstGeom>
        </p:spPr>
        <p:txBody>
          <a:bodyPr vert="horz" wrap="square" lIns="45720" tIns="45720" rIns="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31973-CE20-424B-25E8-0807E89D63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7784" y="1825625"/>
            <a:ext cx="11058862" cy="4167954"/>
          </a:xfrm>
          <a:prstGeom prst="rect">
            <a:avLst/>
          </a:prstGeom>
        </p:spPr>
        <p:txBody>
          <a:bodyPr vert="horz" wrap="square" lIns="45720" tIns="45720" rIns="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59B55CE-FBFE-1C21-3B73-1606C5F2CC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63" y="6310173"/>
            <a:ext cx="549166" cy="547827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>
              <a:defRPr sz="1000" b="0" i="0">
                <a:solidFill>
                  <a:schemeClr val="tx2"/>
                </a:solidFill>
                <a:latin typeface="Avenir Book" panose="02000503020000020003" pitchFamily="2" charset="0"/>
              </a:defRPr>
            </a:lvl1pPr>
          </a:lstStyle>
          <a:p>
            <a:fld id="{209C199A-EF54-9348-9404-88AE0CA7649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256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93" r:id="rId2"/>
    <p:sldLayoutId id="2147483694" r:id="rId3"/>
    <p:sldLayoutId id="2147483651" r:id="rId4"/>
    <p:sldLayoutId id="2147483704" r:id="rId5"/>
    <p:sldLayoutId id="2147483705" r:id="rId6"/>
    <p:sldLayoutId id="2147483703" r:id="rId7"/>
    <p:sldLayoutId id="2147483689" r:id="rId8"/>
    <p:sldLayoutId id="2147483690" r:id="rId9"/>
    <p:sldLayoutId id="2147483700" r:id="rId10"/>
    <p:sldLayoutId id="2147483691" r:id="rId11"/>
    <p:sldLayoutId id="2147483696" r:id="rId12"/>
    <p:sldLayoutId id="2147483692" r:id="rId13"/>
    <p:sldLayoutId id="2147483655" r:id="rId14"/>
    <p:sldLayoutId id="2147483657" r:id="rId1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>
          <a:solidFill>
            <a:schemeClr val="accent4"/>
          </a:solidFill>
          <a:latin typeface="Arial" panose="020B0604020202020204" pitchFamily="34" charset="0"/>
          <a:ea typeface="Helvetica Neue Medium" panose="02000503000000020004" pitchFamily="2" charset="0"/>
          <a:cs typeface="Arial" panose="020B0604020202020204" pitchFamily="34" charset="0"/>
        </a:defRPr>
      </a:lvl1pPr>
    </p:titleStyle>
    <p:bodyStyle>
      <a:lvl1pPr marL="228600" indent="-173736" algn="l" defTabSz="914400" rtl="0" eaLnBrk="1" latinLnBrk="0" hangingPunct="1">
        <a:lnSpc>
          <a:spcPct val="90000"/>
        </a:lnSpc>
        <a:spcBef>
          <a:spcPts val="1000"/>
        </a:spcBef>
        <a:buClr>
          <a:schemeClr val="accent6">
            <a:lumMod val="50000"/>
          </a:schemeClr>
        </a:buClr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1pPr>
      <a:lvl2pPr marL="685800" indent="-173736" algn="l" defTabSz="914400" rtl="0" eaLnBrk="1" latinLnBrk="0" hangingPunct="1">
        <a:lnSpc>
          <a:spcPct val="90000"/>
        </a:lnSpc>
        <a:spcBef>
          <a:spcPts val="500"/>
        </a:spcBef>
        <a:buClr>
          <a:schemeClr val="accent6">
            <a:lumMod val="50000"/>
          </a:schemeClr>
        </a:buClr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2pPr>
      <a:lvl3pPr marL="1143000" indent="-173736" algn="l" defTabSz="914400" rtl="0" eaLnBrk="1" latinLnBrk="0" hangingPunct="1">
        <a:lnSpc>
          <a:spcPct val="90000"/>
        </a:lnSpc>
        <a:spcBef>
          <a:spcPts val="500"/>
        </a:spcBef>
        <a:buClr>
          <a:schemeClr val="accent6">
            <a:lumMod val="50000"/>
          </a:schemeClr>
        </a:buClr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3pPr>
      <a:lvl4pPr marL="1600200" indent="-173736" algn="l" defTabSz="914400" rtl="0" eaLnBrk="1" latinLnBrk="0" hangingPunct="1">
        <a:lnSpc>
          <a:spcPct val="90000"/>
        </a:lnSpc>
        <a:spcBef>
          <a:spcPts val="500"/>
        </a:spcBef>
        <a:buClr>
          <a:schemeClr val="accent6">
            <a:lumMod val="50000"/>
          </a:schemeClr>
        </a:buClr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4pPr>
      <a:lvl5pPr marL="2057400" indent="-173736" algn="l" defTabSz="914400" rtl="0" eaLnBrk="1" latinLnBrk="0" hangingPunct="1">
        <a:lnSpc>
          <a:spcPct val="90000"/>
        </a:lnSpc>
        <a:spcBef>
          <a:spcPts val="500"/>
        </a:spcBef>
        <a:buClr>
          <a:schemeClr val="accent6">
            <a:lumMod val="50000"/>
          </a:schemeClr>
        </a:buClr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1.em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cell data - do not delete" hidden="1">
            <a:extLst>
              <a:ext uri="{FF2B5EF4-FFF2-40B4-BE49-F238E27FC236}">
                <a16:creationId xmlns:a16="http://schemas.microsoft.com/office/drawing/2014/main" id="{F6B6E409-BA6F-D1DC-09C9-F3A4E14F8F8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3782934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7772400" imgH="10058400" progId="TCLayout.ActiveDocument.1">
                  <p:embed/>
                </p:oleObj>
              </mc:Choice>
              <mc:Fallback>
                <p:oleObj name="think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vert="horz" rIns="0"/>
          <a:lstStyle/>
          <a:p>
            <a:r>
              <a:rPr lang="en-US" dirty="0"/>
              <a:t>Onboarding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Computational sciences, IT</a:t>
            </a:r>
            <a:r>
              <a:rPr lang="en-US" dirty="0"/>
              <a:t>,</a:t>
            </a:r>
            <a:r>
              <a:rPr dirty="0"/>
              <a:t> and research informatics handover  |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Where you are landing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IT and infrastructure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Research informatics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Team and career growth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2026 results and 2027 planning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Cross-functional projects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3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8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t>10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t>14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t>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you are landing: a small team with board-visible stakes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5394960" cy="2932430"/>
          </a:xfrm>
          <a:prstGeom prst="roundRect">
            <a:avLst>
              <a:gd name="adj" fmla="val 6000"/>
            </a:avLst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106295"/>
            <a:ext cx="502920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 i="0">
                <a:solidFill>
                  <a:srgbClr val="4651FC"/>
                </a:solidFill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12135"/>
            <a:ext cx="5029200" cy="48133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2633"/>
                </a:solidFill>
              </a:rPr>
              <a:t>computational team members today, including one new starter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25880"/>
            <a:ext cx="5394960" cy="2932430"/>
          </a:xfrm>
          <a:prstGeom prst="roundRect">
            <a:avLst>
              <a:gd name="adj" fmla="val 6000"/>
            </a:avLst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463040"/>
            <a:ext cx="51206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1D75"/>
                </a:solidFill>
              </a:rPr>
              <a:t>What the function covers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828800"/>
            <a:ext cx="5120640" cy="229235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Protein design pipeline and design-pipeline infrastructure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ML/AI modeling: binding prediction, active learning, ESM fine-tuning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Radiance (internal design and QC platform) and data infrastructure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Target ID, omics and bioinformatics analysis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Agentic AI: target assessment, literature, experiment design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IT coordination with Flagship IT and vendors, historically run by Diogo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7784" y="4532629"/>
            <a:ext cx="11055096" cy="1269746"/>
          </a:xfrm>
          <a:prstGeom prst="roundRect">
            <a:avLst>
              <a:gd name="adj" fmla="val 6000"/>
            </a:avLst>
          </a:prstGeom>
          <a:solidFill>
            <a:srgbClr val="F0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642358"/>
            <a:ext cx="10698480" cy="95885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E1D75"/>
                </a:solidFill>
              </a:rPr>
              <a:t>Platform in one line: </a:t>
            </a:r>
            <a:r>
              <a:rPr sz="1400" b="0" i="0">
                <a:solidFill>
                  <a:srgbClr val="262633"/>
                </a:solidFill>
              </a:rPr>
              <a:t>fully synthetic D-amino acid mini-binders against L-protein targets (Synteins). The computational team designs, scores and triages them; hit rate and assay quality are the metrics that move the business.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E1D75"/>
                </a:solidFill>
              </a:rPr>
              <a:t>Why this role is wide: </a:t>
            </a:r>
            <a:r>
              <a:rPr sz="1400" b="0" i="0">
                <a:solidFill>
                  <a:srgbClr val="262633"/>
                </a:solidFill>
              </a:rPr>
              <a:t>until now one person has acted as head of computation, de facto CAIO and IT owner. This deck separates those hats so you can decide which to keep.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" y="6016752"/>
            <a:ext cx="10515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6B7A"/>
                </a:solidFill>
              </a:rPr>
              <a:t>Sources: Pandora vault (Abiologics Home, comp team digests 10/1 and 10/5), LT notes 10/1, Rob Albert email 10/7.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IT and Infrastructure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Flagship IT, Baystate, OneVector and what is still open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 landscape: five vendors, one coordination gap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57784" y="1280160"/>
          <a:ext cx="11064240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Party</a:t>
                      </a:r>
                    </a:p>
                  </a:txBody>
                  <a:tcPr marL="73152" marR="73152" marT="36576" marB="36576" anchor="ctr">
                    <a:solidFill>
                      <a:srgbClr val="2E1D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Contact</a:t>
                      </a:r>
                    </a:p>
                  </a:txBody>
                  <a:tcPr marL="73152" marR="73152" marT="36576" marB="36576" anchor="ctr">
                    <a:solidFill>
                      <a:srgbClr val="2E1D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What they do for Abiologics</a:t>
                      </a:r>
                    </a:p>
                  </a:txBody>
                  <a:tcPr marL="73152" marR="73152" marT="36576" marB="36576" anchor="ctr">
                    <a:solidFill>
                      <a:srgbClr val="2E1D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Flagship IT (FSP IT)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Rob Albert; Dan Cochrane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Business partnership, POs and licenses; owns the storage gateway upgrade with Research Systems; biweekly Abio check-in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Baystate IT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Ben Farrow; Darrell Rhodes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Managed IT for the new site: VPN (live since Aug 31), endpoints, on-site engineer, network follow-ups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Technium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via Flagship IT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Built Abiologics VLANs at 99C and the site-to-site VPN into the AWS organization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Kyndryl, Tennex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via Flagship IT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Legacy and adjacent infrastructure vendors named in the catalog work; confirm scope and renewals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OneVector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Karen Scott, Amelia Sancilio, Gene Grella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Advisory and program-management support; Phase 1 closed Oct 13 (next slide)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57784" y="4892040"/>
            <a:ext cx="11055096" cy="1005840"/>
          </a:xfrm>
          <a:prstGeom prst="roundRect">
            <a:avLst>
              <a:gd name="adj" fmla="val 6000"/>
            </a:avLst>
          </a:prstGeom>
          <a:solidFill>
            <a:srgbClr val="F0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4956048"/>
            <a:ext cx="1069848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E1D75"/>
                </a:solidFill>
              </a:rPr>
              <a:t>The gap: </a:t>
            </a:r>
            <a:r>
              <a:rPr sz="1400" b="0" i="0">
                <a:solidFill>
                  <a:srgbClr val="262633"/>
                </a:solidFill>
              </a:rPr>
              <a:t>no single owner reconciles these vendors against what the science needs. In July the idea was to use OneVector as a fractional CIO for exactly this. You are the natural owner; a software and service catalog now exists to work from.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OneVector: Phase 1 is done, Phase 2 is your decision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57784" y="1325880"/>
            <a:ext cx="2194560" cy="2743200"/>
          </a:xfrm>
          <a:prstGeom prst="roundRect">
            <a:avLst>
              <a:gd name="adj" fmla="val 6000"/>
            </a:avLst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9224" y="2148840"/>
            <a:ext cx="2011679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4651FC"/>
                </a:solidFill>
              </a:rPr>
              <a:t>33.5 /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2834640"/>
            <a:ext cx="2011679" cy="48133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2633"/>
                </a:solidFill>
              </a:rPr>
              <a:t>SOW hours used by Oct 5; ended Oct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1325880"/>
            <a:ext cx="4114800" cy="2743200"/>
          </a:xfrm>
          <a:prstGeom prst="roundRect">
            <a:avLst>
              <a:gd name="adj" fmla="val 6000"/>
            </a:avLst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08960" y="1417320"/>
            <a:ext cx="38404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1D75"/>
                </a:solidFill>
              </a:rPr>
              <a:t>What Phase 1 delivered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828800"/>
            <a:ext cx="3840480" cy="21488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Support for the 99 Coolidge move and post-move IT stabilization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Software and Service Catalog: systems, owners, contacts, renewals, costs, licensing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Catalog at "good place"; remaining gaps are ownership, Finance and FSP follow-ups, renewals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325880"/>
            <a:ext cx="4343400" cy="2743200"/>
          </a:xfrm>
          <a:prstGeom prst="roundRect">
            <a:avLst>
              <a:gd name="adj" fmla="val 6000"/>
            </a:avLst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06640" y="1417320"/>
            <a:ext cx="40690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1D75"/>
                </a:solidFill>
              </a:rPr>
              <a:t>Phase 2 as OneVector proposes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828800"/>
            <a:ext cx="4069080" cy="21488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Finish renewal, cost, licensing and ownership data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Facilitate retire, consolidate or transition-to-Abio decisions on systems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Karen Scott has asked for times to scope it; reply is outstanding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" y="4297680"/>
            <a:ext cx="11055096" cy="1600200"/>
          </a:xfrm>
          <a:prstGeom prst="roundRect">
            <a:avLst>
              <a:gd name="adj" fmla="val 6000"/>
            </a:avLst>
          </a:prstGeom>
          <a:solidFill>
            <a:srgbClr val="F0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6092" y="4485495"/>
            <a:ext cx="10698480" cy="123521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 dirty="0">
                <a:solidFill>
                  <a:srgbClr val="2E1D75"/>
                </a:solidFill>
              </a:rPr>
              <a:t>Decision for you: </a:t>
            </a:r>
            <a:r>
              <a:rPr sz="1400" b="0" i="0" dirty="0">
                <a:solidFill>
                  <a:srgbClr val="262633"/>
                </a:solidFill>
              </a:rPr>
              <a:t>continue, narrow or stop. Rob Albert asked what value was actually delivered, and Diogo asked </a:t>
            </a:r>
            <a:r>
              <a:rPr sz="1400" b="0" i="0" dirty="0" err="1">
                <a:solidFill>
                  <a:srgbClr val="262633"/>
                </a:solidFill>
              </a:rPr>
              <a:t>OneVector</a:t>
            </a:r>
            <a:r>
              <a:rPr sz="1400" b="0" i="0" dirty="0">
                <a:solidFill>
                  <a:srgbClr val="262633"/>
                </a:solidFill>
              </a:rPr>
              <a:t> for an hour-by-hour breakdown of Phase 1 plus a deliverables outline (answered at high level on Oct 5).</a:t>
            </a:r>
          </a:p>
          <a:p>
            <a:pPr algn="l">
              <a:spcAft>
                <a:spcPts val="400"/>
              </a:spcAft>
            </a:pPr>
            <a:endParaRPr lang="en-US" sz="1400" b="1" i="0" dirty="0">
              <a:solidFill>
                <a:srgbClr val="2E1D75"/>
              </a:solidFill>
            </a:endParaRPr>
          </a:p>
          <a:p>
            <a:pPr algn="l">
              <a:spcAft>
                <a:spcPts val="400"/>
              </a:spcAft>
            </a:pPr>
            <a:r>
              <a:rPr sz="1400" b="1" i="0" dirty="0">
                <a:solidFill>
                  <a:srgbClr val="2E1D75"/>
                </a:solidFill>
              </a:rPr>
              <a:t>Context: </a:t>
            </a:r>
            <a:r>
              <a:rPr sz="1400" b="0" i="0" dirty="0">
                <a:solidFill>
                  <a:srgbClr val="262633"/>
                </a:solidFill>
              </a:rPr>
              <a:t>Kala Subramanian is moving the MSA and SOW with a spend cap below $10K. If you take the IT owner role, Phase 2 may be unnecessary; if you do not, it is the cheapest owner you have.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 open items to pick up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6122584"/>
              </p:ext>
            </p:extLst>
          </p:nvPr>
        </p:nvGraphicFramePr>
        <p:xfrm>
          <a:off x="557784" y="1280160"/>
          <a:ext cx="11064240" cy="2880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 marL="73152" marR="73152" marT="36576" marB="36576" anchor="ctr">
                    <a:solidFill>
                      <a:srgbClr val="2E1D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Owner / contact</a:t>
                      </a:r>
                    </a:p>
                  </a:txBody>
                  <a:tcPr marL="73152" marR="73152" marT="36576" marB="36576" anchor="ctr">
                    <a:solidFill>
                      <a:srgbClr val="2E1D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Status and next step</a:t>
                      </a:r>
                    </a:p>
                  </a:txBody>
                  <a:tcPr marL="73152" marR="73152" marT="36576" marB="36576" anchor="ctr">
                    <a:solidFill>
                      <a:srgbClr val="2E1D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Storage gateway cutover to private SGW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Joe Kennedy; Andrew Croneberger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New SGW is Entra-bound and live in the workload-1 AWS account; lab-device remount needs a downtime window. Biology confirmed ready Oct 13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Weights &amp; Biases renewal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Andrew Croneberger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Renewal process unclear; raised Oct 6, no owner confirmed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OpenFold PO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Rob Albert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262633"/>
                          </a:solidFill>
                        </a:rPr>
                        <a:t>Renewal signed; PO still to be opened and paid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57784" y="6016752"/>
            <a:ext cx="10515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6B7A"/>
                </a:solidFill>
              </a:rPr>
              <a:t>Sources: Joe Kennedy and Rob Albert emails (Jun to Oct 2026), OneVector IT touchpoint notes 9/29 and 10/6, comp team digest 10/5. Some items may have closed since.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Research Informatics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Joe Kennedy and the Flagship research systems group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informatics: what Joe Kennedy owns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57784" y="1325880"/>
            <a:ext cx="3566160" cy="2315210"/>
          </a:xfrm>
          <a:prstGeom prst="roundRect">
            <a:avLst>
              <a:gd name="adj" fmla="val 6000"/>
            </a:avLst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94944" y="1417320"/>
            <a:ext cx="3291840" cy="29845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1D75"/>
                </a:solidFill>
              </a:rPr>
              <a:t>Benchling and data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1828800"/>
            <a:ext cx="3291840" cy="167513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Tenant admin, results schemas and data models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Benchling AI program: shared AI credits under Flagship central agreement; AI Day held Sep 15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Pulling Benchling data into S3 for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5968" y="1325880"/>
            <a:ext cx="3566160" cy="2315210"/>
          </a:xfrm>
          <a:prstGeom prst="roundRect">
            <a:avLst>
              <a:gd name="adj" fmla="val 6000"/>
            </a:avLst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53128" y="1417320"/>
            <a:ext cx="3291840" cy="29845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1D75"/>
                </a:solidFill>
              </a:rPr>
              <a:t>Cloud and lab devices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53128" y="1828800"/>
            <a:ext cx="3291840" cy="146177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AWS storage gateway and S3 environments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Lab device management (NinjaOne) and off-hours remounts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Software installs and licenses for scientists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74152" y="1325880"/>
            <a:ext cx="3538728" cy="2315210"/>
          </a:xfrm>
          <a:prstGeom prst="roundRect">
            <a:avLst>
              <a:gd name="adj" fmla="val 6000"/>
            </a:avLst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11312" y="1417320"/>
            <a:ext cx="3264408" cy="29845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1D75"/>
                </a:solidFill>
              </a:rPr>
              <a:t>Policy and vendors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11312" y="1828800"/>
            <a:ext cx="3264408" cy="146177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 dirty="0">
                <a:solidFill>
                  <a:srgbClr val="262633"/>
                </a:solidFill>
              </a:rPr>
              <a:t>ELN policy draft shared with Andrew in April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 dirty="0">
                <a:solidFill>
                  <a:srgbClr val="262633"/>
                </a:solidFill>
              </a:rPr>
              <a:t>Vendor sessions, for example </a:t>
            </a:r>
            <a:r>
              <a:rPr sz="1400" b="0" dirty="0" err="1">
                <a:solidFill>
                  <a:srgbClr val="262633"/>
                </a:solidFill>
              </a:rPr>
              <a:t>Seqera</a:t>
            </a:r>
            <a:r>
              <a:rPr sz="1400" b="0" dirty="0">
                <a:solidFill>
                  <a:srgbClr val="262633"/>
                </a:solidFill>
              </a:rPr>
              <a:t> on site Oct 6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 dirty="0" err="1">
                <a:solidFill>
                  <a:srgbClr val="262633"/>
                </a:solidFill>
              </a:rPr>
              <a:t>Sharepoint</a:t>
            </a:r>
            <a:r>
              <a:rPr sz="1400" b="0" dirty="0">
                <a:solidFill>
                  <a:srgbClr val="262633"/>
                </a:solidFill>
              </a:rPr>
              <a:t> raw-data migration planning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" y="3915409"/>
            <a:ext cx="11055096" cy="1696465"/>
          </a:xfrm>
          <a:prstGeom prst="roundRect">
            <a:avLst>
              <a:gd name="adj" fmla="val 6000"/>
            </a:avLst>
          </a:prstGeom>
          <a:solidFill>
            <a:srgbClr val="F0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4025138"/>
            <a:ext cx="10698480" cy="138557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 dirty="0">
                <a:solidFill>
                  <a:srgbClr val="2E1D75"/>
                </a:solidFill>
              </a:rPr>
              <a:t>Open threads: </a:t>
            </a:r>
            <a:r>
              <a:rPr sz="1400" b="0" i="0" dirty="0">
                <a:solidFill>
                  <a:srgbClr val="262633"/>
                </a:solidFill>
              </a:rPr>
              <a:t>(1) pick a </a:t>
            </a:r>
            <a:r>
              <a:rPr sz="1400" b="0" i="0" dirty="0" err="1">
                <a:solidFill>
                  <a:srgbClr val="262633"/>
                </a:solidFill>
              </a:rPr>
              <a:t>Benchling</a:t>
            </a:r>
            <a:r>
              <a:rPr sz="1400" b="0" i="0" dirty="0">
                <a:solidFill>
                  <a:srgbClr val="262633"/>
                </a:solidFill>
              </a:rPr>
              <a:t> catch-up day for the team, an LT action from Oct 1; (2) data package consultants need to implement templates, still unclear; (3) team habit of reviewing </a:t>
            </a:r>
            <a:r>
              <a:rPr sz="1400" b="0" i="0" dirty="0" err="1">
                <a:solidFill>
                  <a:srgbClr val="262633"/>
                </a:solidFill>
              </a:rPr>
              <a:t>Benchling</a:t>
            </a:r>
            <a:r>
              <a:rPr sz="1400" b="0" i="0" dirty="0">
                <a:solidFill>
                  <a:srgbClr val="262633"/>
                </a:solidFill>
              </a:rPr>
              <a:t> entries weekly so they do not pile up; (4) SGW remount timing with Andrew.</a:t>
            </a:r>
          </a:p>
          <a:p>
            <a:pPr algn="l">
              <a:spcAft>
                <a:spcPts val="400"/>
              </a:spcAft>
            </a:pPr>
            <a:endParaRPr lang="en-US" sz="1400" b="1" i="0" dirty="0">
              <a:solidFill>
                <a:srgbClr val="2E1D75"/>
              </a:solidFill>
            </a:endParaRPr>
          </a:p>
          <a:p>
            <a:pPr algn="l">
              <a:spcAft>
                <a:spcPts val="400"/>
              </a:spcAft>
            </a:pPr>
            <a:r>
              <a:rPr sz="1400" b="1" i="0" dirty="0">
                <a:solidFill>
                  <a:srgbClr val="2E1D75"/>
                </a:solidFill>
              </a:rPr>
              <a:t>Working style: </a:t>
            </a:r>
            <a:r>
              <a:rPr sz="1400" b="0" i="0" dirty="0">
                <a:solidFill>
                  <a:srgbClr val="262633"/>
                </a:solidFill>
              </a:rPr>
              <a:t>Joe copies Diogo on most threads and acts on the lab and cloud side; the science-side owner is Andrew, with Jaclyn for lab scheduling. Set a standing monthly with Joe so informatics decisions are not made in email cc lines.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" y="6016752"/>
            <a:ext cx="10515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6B7A"/>
                </a:solidFill>
              </a:rPr>
              <a:t>Sources: Joe Kennedy emails (Apr to Oct 2026), LT notes 10/1, comp team digests 10/1 and 10/5, FL111 and FL108 Benchling threads.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Team and Career Growth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Who is on the team, what they are good at, where they are going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makeup and skills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320058"/>
              </p:ext>
            </p:extLst>
          </p:nvPr>
        </p:nvGraphicFramePr>
        <p:xfrm>
          <a:off x="557784" y="1280160"/>
          <a:ext cx="11064240" cy="41330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Person</a:t>
                      </a:r>
                    </a:p>
                  </a:txBody>
                  <a:tcPr marL="73152" marR="73152" marT="36576" marB="36576" anchor="ctr">
                    <a:solidFill>
                      <a:srgbClr val="2E1D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marL="73152" marR="73152" marT="36576" marB="36576" anchor="ctr">
                    <a:solidFill>
                      <a:srgbClr val="2E1D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Core skills and current work</a:t>
                      </a:r>
                    </a:p>
                  </a:txBody>
                  <a:tcPr marL="73152" marR="73152" marT="36576" marB="36576" anchor="ctr">
                    <a:solidFill>
                      <a:srgbClr val="2E1D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 marL="73152" marR="73152" marT="36576" marB="36576" anchor="ctr">
                    <a:solidFill>
                      <a:srgbClr val="2E1D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Andrew Croneberger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Software and infrastructure lead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Design pipeline and infra; storage gateway, Sentry and W&amp;B; chasing the Adaptyv BLI gap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Top performer; single point of failure for infra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Nitya Talasila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Software engineer, Radiance owner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Radiance product and UI redo; data and infra; organizes comp huddles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Single point of failure for Radiance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Jeremy Amon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Computational protein designer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Rosetta interface-design experiment; tooling; solubility and designability insight; target-scan adviser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Steep ramp since joining about 9 months ago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Beth Kartchner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Computational protein designer (remote, Arizona)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Deep structure expertise; wet-lab triage; GFRAL benchmarking; ncAA notebook; MI6 Claude plug-in for target assessment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Recently promoted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Jiangchuan Ye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ML scientist (since Apr 27, 2026)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ESM fine-tuning, binding-prediction models, active learning; solubility follow-up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Sole ML scientist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Declan Evans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Computational protein designer (new)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Point person for target scan from a design perspective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262633"/>
                          </a:solidFill>
                        </a:rPr>
                        <a:t>Joined September 28</a:t>
                      </a:r>
                      <a:endParaRPr sz="1200" b="0" dirty="0">
                        <a:solidFill>
                          <a:srgbClr val="262633"/>
                        </a:solidFill>
                      </a:endParaRP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57784" y="6016752"/>
            <a:ext cx="10515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6B7A"/>
                </a:solidFill>
              </a:rPr>
              <a:t>Sources: Talent Review prep 7/7, People notes, comp team digests 10/1 and 10/5, 1:1 notes.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Talent snapshot from the July review (confidential)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57784" y="1325880"/>
            <a:ext cx="5440680" cy="2101850"/>
          </a:xfrm>
          <a:prstGeom prst="roundRect">
            <a:avLst>
              <a:gd name="adj" fmla="val 6000"/>
            </a:avLst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94944" y="1417320"/>
            <a:ext cx="5166360" cy="29845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1D75"/>
                </a:solidFill>
              </a:rPr>
              <a:t>Strengths to build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1828800"/>
            <a:ext cx="5166360" cy="146177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 dirty="0">
                <a:solidFill>
                  <a:srgbClr val="262633"/>
                </a:solidFill>
              </a:rPr>
              <a:t>Andrew: strongest delivery, trajectory toward head of software engineering in 2 to 3 years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 dirty="0">
                <a:solidFill>
                  <a:srgbClr val="262633"/>
                </a:solidFill>
              </a:rPr>
              <a:t>Jeremy: high potential; principal-scientist track now, possible team lead later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 dirty="0">
                <a:solidFill>
                  <a:srgbClr val="262633"/>
                </a:solidFill>
              </a:rPr>
              <a:t>Beth: </a:t>
            </a:r>
            <a:r>
              <a:rPr lang="en-US" sz="1400" b="0" dirty="0">
                <a:solidFill>
                  <a:srgbClr val="262633"/>
                </a:solidFill>
              </a:rPr>
              <a:t>built Claude plug-in for target assessment; structural biology expertise</a:t>
            </a:r>
            <a:endParaRPr sz="1400" b="0" dirty="0">
              <a:solidFill>
                <a:srgbClr val="262633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172200" y="1325880"/>
            <a:ext cx="5440680" cy="2101850"/>
          </a:xfrm>
          <a:prstGeom prst="roundRect">
            <a:avLst>
              <a:gd name="adj" fmla="val 6000"/>
            </a:avLst>
          </a:prstGeom>
          <a:solidFill>
            <a:srgbClr val="FCD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09360" y="1417320"/>
            <a:ext cx="5166360" cy="29845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1D75"/>
                </a:solidFill>
              </a:rPr>
              <a:t>Risks to manage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166360" cy="146177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Andrew is the largest organizational single point of failure; no recovery path for infra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Nitya is the single point of failure for Radiance; with Andrew, infra is only two deep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Jiangchuan is the only ML scientist; the ML team structure is not yet planned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" y="3702049"/>
            <a:ext cx="11055096" cy="2173986"/>
          </a:xfrm>
          <a:prstGeom prst="roundRect">
            <a:avLst>
              <a:gd name="adj" fmla="val 6000"/>
            </a:avLst>
          </a:prstGeom>
          <a:solidFill>
            <a:srgbClr val="F0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811777"/>
            <a:ext cx="10698480" cy="186309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 dirty="0">
                <a:solidFill>
                  <a:srgbClr val="2E1D75"/>
                </a:solidFill>
              </a:rPr>
              <a:t>Two asks already made to the LT: </a:t>
            </a:r>
            <a:r>
              <a:rPr sz="1400" b="0" i="0" dirty="0">
                <a:solidFill>
                  <a:srgbClr val="262633"/>
                </a:solidFill>
              </a:rPr>
              <a:t>(1) a mid-level engineer between Andrew and Nitya, which fixes both single points of failure and lets Andrew delegate; (2) put ML team structure on the 2027 roadmap. The job description for the engineer is still owed to Andrew.</a:t>
            </a:r>
          </a:p>
          <a:p>
            <a:pPr algn="l">
              <a:spcAft>
                <a:spcPts val="400"/>
              </a:spcAft>
            </a:pPr>
            <a:endParaRPr lang="en-US" sz="1400" b="1" i="0" dirty="0">
              <a:solidFill>
                <a:srgbClr val="2E1D75"/>
              </a:solidFill>
            </a:endParaRPr>
          </a:p>
          <a:p>
            <a:pPr algn="l">
              <a:spcAft>
                <a:spcPts val="400"/>
              </a:spcAft>
            </a:pPr>
            <a:r>
              <a:rPr sz="1400" b="1" i="0" dirty="0">
                <a:solidFill>
                  <a:srgbClr val="2E1D75"/>
                </a:solidFill>
              </a:rPr>
              <a:t>Retention: </a:t>
            </a:r>
            <a:r>
              <a:rPr sz="1400" b="0" i="0" dirty="0">
                <a:solidFill>
                  <a:srgbClr val="262633"/>
                </a:solidFill>
              </a:rPr>
              <a:t>all five rated low risk at mid-year. Keep it that way by delivering the career conversations on the next slide. Jeremy, Nitya and </a:t>
            </a:r>
            <a:r>
              <a:rPr sz="1400" b="0" i="0" dirty="0" err="1">
                <a:solidFill>
                  <a:srgbClr val="262633"/>
                </a:solidFill>
              </a:rPr>
              <a:t>Jiangchuan</a:t>
            </a:r>
            <a:r>
              <a:rPr sz="1400" b="0" i="0" dirty="0">
                <a:solidFill>
                  <a:srgbClr val="262633"/>
                </a:solidFill>
              </a:rPr>
              <a:t> had not stated aspirations; ask early.</a:t>
            </a:r>
          </a:p>
          <a:p>
            <a:pPr algn="l">
              <a:spcAft>
                <a:spcPts val="400"/>
              </a:spcAft>
            </a:pPr>
            <a:endParaRPr lang="en-US" sz="1400" b="1" i="0" dirty="0">
              <a:solidFill>
                <a:srgbClr val="2E1D75"/>
              </a:solidFill>
            </a:endParaRPr>
          </a:p>
          <a:p>
            <a:pPr algn="l">
              <a:spcAft>
                <a:spcPts val="400"/>
              </a:spcAft>
            </a:pPr>
            <a:r>
              <a:rPr sz="1400" b="1" i="0" dirty="0">
                <a:solidFill>
                  <a:srgbClr val="2E1D75"/>
                </a:solidFill>
              </a:rPr>
              <a:t>Caveat: </a:t>
            </a:r>
            <a:r>
              <a:rPr sz="1400" b="0" i="0" dirty="0">
                <a:solidFill>
                  <a:srgbClr val="262633"/>
                </a:solidFill>
              </a:rPr>
              <a:t>the review is five months old. Re-calibrate with your own read before using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" y="6016752"/>
            <a:ext cx="10515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6B7A"/>
                </a:solidFill>
              </a:rPr>
              <a:t>Source: Talent Review prep 7/7 and LT Talent Discussion 7/7 (framework from Carolyn Pastore).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Career growth: one concrete move per person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2006154"/>
              </p:ext>
            </p:extLst>
          </p:nvPr>
        </p:nvGraphicFramePr>
        <p:xfrm>
          <a:off x="557784" y="1280160"/>
          <a:ext cx="11064240" cy="43525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Person</a:t>
                      </a:r>
                    </a:p>
                  </a:txBody>
                  <a:tcPr marL="73152" marR="73152" marT="36576" marB="36576" anchor="ctr">
                    <a:solidFill>
                      <a:srgbClr val="2E1D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Direction</a:t>
                      </a:r>
                    </a:p>
                  </a:txBody>
                  <a:tcPr marL="73152" marR="73152" marT="36576" marB="36576" anchor="ctr">
                    <a:solidFill>
                      <a:srgbClr val="2E1D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Next move</a:t>
                      </a:r>
                    </a:p>
                  </a:txBody>
                  <a:tcPr marL="73152" marR="73152" marT="36576" marB="36576" anchor="ctr">
                    <a:solidFill>
                      <a:srgbClr val="2E1D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Gating skill</a:t>
                      </a:r>
                    </a:p>
                  </a:txBody>
                  <a:tcPr marL="73152" marR="73152" marT="36576" marB="36576" anchor="ctr">
                    <a:solidFill>
                      <a:srgbClr val="2E1D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Andrew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Lead software engineering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Formalize his team: Nitya solid-line plus a mid-level hire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Delegation and time-boxing deep dives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Jeremy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Principal scientist; later team lead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Adviser role on target scan; trial of direct-report range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Tell us: technical authority or leading people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Beth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More responsibility, strategic scope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262633"/>
                          </a:solidFill>
                        </a:rPr>
                        <a:t>Own the agentic target assessment end to end</a:t>
                      </a:r>
                      <a:r>
                        <a:rPr lang="en-US" sz="1200" b="0" dirty="0">
                          <a:solidFill>
                            <a:srgbClr val="262633"/>
                          </a:solidFill>
                        </a:rPr>
                        <a:t>, at scale.</a:t>
                      </a:r>
                      <a:r>
                        <a:rPr sz="1200" b="0" dirty="0">
                          <a:solidFill>
                            <a:srgbClr val="262633"/>
                          </a:solidFill>
                        </a:rPr>
                        <a:t> </a:t>
                      </a:r>
                      <a:r>
                        <a:rPr lang="en-US" sz="1200" b="0" dirty="0">
                          <a:solidFill>
                            <a:srgbClr val="262633"/>
                          </a:solidFill>
                        </a:rPr>
                        <a:t>Expand understanding of the business</a:t>
                      </a:r>
                      <a:endParaRPr sz="1200" b="0" dirty="0">
                        <a:solidFill>
                          <a:srgbClr val="262633"/>
                        </a:solidFill>
                      </a:endParaRP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Options before constraints; company-level "why". Title just changed, so this year is demonstrating readiness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Nitya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Deeper technical IC under Andrew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Radiance UI redo as a stretch into new tech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Proactive, forward-looking ownership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Jiangchuan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Scientist track, too early to call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Narrow to two owned priorities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Focus; initiative as he settles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Declan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To be set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Target scan from a design lens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262633"/>
                          </a:solidFill>
                        </a:rPr>
                        <a:t>Define in first 30 days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57784" y="6016752"/>
            <a:ext cx="10515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6B7A"/>
                </a:solidFill>
              </a:rPr>
              <a:t>Sources: Talent Review prep 7/7; target-scan plan from LT 10/1. Personal circumstances intentionally left out of this record.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2026 Results and 2027 Planning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What we built, what the board now expects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2026 in review: from point solutions to a platform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57784" y="1325880"/>
            <a:ext cx="3566160" cy="2101850"/>
          </a:xfrm>
          <a:prstGeom prst="roundRect">
            <a:avLst>
              <a:gd name="adj" fmla="val 6000"/>
            </a:avLst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94944" y="1417320"/>
            <a:ext cx="3291840" cy="29845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1D75"/>
                </a:solidFill>
              </a:rPr>
              <a:t>Platform and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1828800"/>
            <a:ext cx="3291840" cy="146177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Design pipeline review and co-folding strategy (Jun)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Radiance platform with new QC features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Rosetta interface-design experiment under 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5968" y="1325880"/>
            <a:ext cx="3566160" cy="2101850"/>
          </a:xfrm>
          <a:prstGeom prst="roundRect">
            <a:avLst>
              <a:gd name="adj" fmla="val 6000"/>
            </a:avLst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53128" y="1417320"/>
            <a:ext cx="3291840" cy="29845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1D75"/>
                </a:solidFill>
              </a:rPr>
              <a:t>AI and agentic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53128" y="1828800"/>
            <a:ext cx="3291840" cy="124841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TARDIS six-agent target assessment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GFRAL active-learning proof of concept on 2,044 sequences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Team-wide Claude adoption session (Oct 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74152" y="1325880"/>
            <a:ext cx="3538728" cy="2101850"/>
          </a:xfrm>
          <a:prstGeom prst="roundRect">
            <a:avLst>
              <a:gd name="adj" fmla="val 6000"/>
            </a:avLst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11312" y="1417320"/>
            <a:ext cx="3264408" cy="29845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1D75"/>
                </a:solidFill>
              </a:rPr>
              <a:t>Team and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11312" y="1828800"/>
            <a:ext cx="3264408" cy="75819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 dirty="0">
                <a:solidFill>
                  <a:srgbClr val="262633"/>
                </a:solidFill>
              </a:rPr>
              <a:t>ML and protein-design hiring: two roles, 20+ candidates screened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 dirty="0">
                <a:solidFill>
                  <a:srgbClr val="262633"/>
                </a:solidFill>
              </a:rPr>
              <a:t>Two hires landed (Apr, Sep/Oct)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" y="3702049"/>
            <a:ext cx="11055096" cy="1483105"/>
          </a:xfrm>
          <a:prstGeom prst="roundRect">
            <a:avLst>
              <a:gd name="adj" fmla="val 6000"/>
            </a:avLst>
          </a:prstGeom>
          <a:solidFill>
            <a:srgbClr val="F0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6092" y="3811777"/>
            <a:ext cx="10698480" cy="117221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 dirty="0">
                <a:solidFill>
                  <a:srgbClr val="2E1D75"/>
                </a:solidFill>
              </a:rPr>
              <a:t>Most actionable finding: </a:t>
            </a:r>
            <a:r>
              <a:rPr sz="1400" b="0" i="0" dirty="0">
                <a:solidFill>
                  <a:srgbClr val="262633"/>
                </a:solidFill>
              </a:rPr>
              <a:t>a bug in the computational feature pipeline moved the correlation by 0.50 in the GFRAL analysis. Validate pipeline outputs before trusting model gains.</a:t>
            </a:r>
          </a:p>
          <a:p>
            <a:pPr algn="l">
              <a:spcAft>
                <a:spcPts val="400"/>
              </a:spcAft>
            </a:pPr>
            <a:endParaRPr lang="en-US" sz="1400" b="1" dirty="0">
              <a:solidFill>
                <a:srgbClr val="2E1D75"/>
              </a:solidFill>
            </a:endParaRPr>
          </a:p>
          <a:p>
            <a:pPr algn="l">
              <a:spcAft>
                <a:spcPts val="400"/>
              </a:spcAft>
            </a:pPr>
            <a:r>
              <a:rPr lang="en-US" sz="1400" b="1" i="0" dirty="0">
                <a:solidFill>
                  <a:srgbClr val="2E1D75"/>
                </a:solidFill>
              </a:rPr>
              <a:t>Still open</a:t>
            </a:r>
            <a:r>
              <a:rPr sz="1400" b="1" i="0" dirty="0">
                <a:solidFill>
                  <a:srgbClr val="2E1D75"/>
                </a:solidFill>
              </a:rPr>
              <a:t>: </a:t>
            </a:r>
            <a:r>
              <a:rPr sz="1400" b="0" i="0" dirty="0">
                <a:solidFill>
                  <a:srgbClr val="262633"/>
                </a:solidFill>
              </a:rPr>
              <a:t>GFRAL benchmarking data (CD, crude LC-MS)</a:t>
            </a:r>
            <a:r>
              <a:rPr lang="en-US" sz="1400" b="0" i="0" dirty="0">
                <a:solidFill>
                  <a:srgbClr val="262633"/>
                </a:solidFill>
              </a:rPr>
              <a:t> final analyses</a:t>
            </a:r>
            <a:r>
              <a:rPr sz="1400" b="0" i="0" dirty="0">
                <a:solidFill>
                  <a:srgbClr val="262633"/>
                </a:solidFill>
              </a:rPr>
              <a:t>; our BLI controls bind weaker than </a:t>
            </a:r>
            <a:r>
              <a:rPr sz="1400" b="0" i="0" dirty="0" err="1">
                <a:solidFill>
                  <a:srgbClr val="262633"/>
                </a:solidFill>
              </a:rPr>
              <a:t>Adaptyv's</a:t>
            </a:r>
            <a:r>
              <a:rPr sz="1400" b="0" i="0" dirty="0">
                <a:solidFill>
                  <a:srgbClr val="262633"/>
                </a:solidFill>
              </a:rPr>
              <a:t> on the same sequence (about $2 to 3K per plate to chase);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" y="6016752"/>
            <a:ext cx="10515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6B7A"/>
                </a:solidFill>
              </a:rPr>
              <a:t>Sources: TARDIS and agentic summaries, comp team digests 10/1 and 10/5, 6/24 pipeline review, LT notes 10/1. Chiara asked each lead for a 2026 retro slide for the 2027 workshop.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2027 plan: build on 2026 growth (proposed, to validate with LT)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3487461"/>
              </p:ext>
            </p:extLst>
          </p:nvPr>
        </p:nvGraphicFramePr>
        <p:xfrm>
          <a:off x="557784" y="1280160"/>
          <a:ext cx="11064240" cy="44988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980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Workstream</a:t>
                      </a:r>
                    </a:p>
                  </a:txBody>
                  <a:tcPr marL="73152" marR="73152" marT="36576" marB="36576" anchor="ctr">
                    <a:solidFill>
                      <a:srgbClr val="2E1D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2026 baseline</a:t>
                      </a:r>
                    </a:p>
                  </a:txBody>
                  <a:tcPr marL="73152" marR="73152" marT="36576" marB="36576" anchor="ctr">
                    <a:solidFill>
                      <a:srgbClr val="2E1D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2027 goal</a:t>
                      </a:r>
                    </a:p>
                  </a:txBody>
                  <a:tcPr marL="73152" marR="73152" marT="36576" marB="36576" anchor="ctr">
                    <a:solidFill>
                      <a:srgbClr val="2E1D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Needs</a:t>
                      </a:r>
                    </a:p>
                  </a:txBody>
                  <a:tcPr marL="73152" marR="73152" marT="36576" marB="36576" anchor="ctr">
                    <a:solidFill>
                      <a:srgbClr val="2E1D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Target scan and new programs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v0 scan by Diogo; Declan on point, Jeremy advising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Read before year end; target list ready for BD; programs start in Jan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Clear design-feasibility score; Chiara mandate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Hit finding and assay quality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Benchmarks (GFRAL, IL7RA); BLI gap vs Adaptyv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Higher hit rate per cycle; closed BLI discrepancy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Adaptyv green light; plate budget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Platform: Radiance and infra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262633"/>
                          </a:solidFill>
                        </a:rPr>
                        <a:t>I</a:t>
                      </a:r>
                      <a:r>
                        <a:rPr sz="1200" b="0" dirty="0">
                          <a:solidFill>
                            <a:srgbClr val="262633"/>
                          </a:solidFill>
                        </a:rPr>
                        <a:t>nfra concentrated in Andrew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262633"/>
                          </a:solidFill>
                        </a:rPr>
                        <a:t>Two-deep infra; UI redo </a:t>
                      </a:r>
                      <a:r>
                        <a:rPr lang="en-US" sz="1200" b="0" dirty="0">
                          <a:solidFill>
                            <a:srgbClr val="262633"/>
                          </a:solidFill>
                        </a:rPr>
                        <a:t>planned and delivered</a:t>
                      </a:r>
                      <a:endParaRPr sz="1200" b="0" dirty="0">
                        <a:solidFill>
                          <a:srgbClr val="262633"/>
                        </a:solidFill>
                      </a:endParaRP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262633"/>
                          </a:solidFill>
                        </a:rPr>
                        <a:t>Mid-level engineer hire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ML and agentic AI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262633"/>
                          </a:solidFill>
                        </a:rPr>
                        <a:t>One ML scientist; TARDIS</a:t>
                      </a:r>
                      <a:r>
                        <a:rPr lang="en-US" sz="1200" b="0" dirty="0">
                          <a:solidFill>
                            <a:srgbClr val="262633"/>
                          </a:solidFill>
                        </a:rPr>
                        <a:t>/MI-6</a:t>
                      </a:r>
                      <a:r>
                        <a:rPr sz="1200" b="0" dirty="0">
                          <a:solidFill>
                            <a:srgbClr val="262633"/>
                          </a:solidFill>
                        </a:rPr>
                        <a:t> and agents in production use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ML team structure; API migration of agents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ML headcount case; compute budget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Data and IT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Benchling, SGW cutover, catalog 1.0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Single IT owner; renewals rationalized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 err="1">
                          <a:solidFill>
                            <a:srgbClr val="262633"/>
                          </a:solidFill>
                        </a:rPr>
                        <a:t>OneVector</a:t>
                      </a:r>
                      <a:r>
                        <a:rPr sz="1200" b="0" dirty="0">
                          <a:solidFill>
                            <a:srgbClr val="262633"/>
                          </a:solidFill>
                        </a:rPr>
                        <a:t> decision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2027 risks and what to decide first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57784" y="1325880"/>
            <a:ext cx="5440680" cy="1888490"/>
          </a:xfrm>
          <a:prstGeom prst="roundRect">
            <a:avLst>
              <a:gd name="adj" fmla="val 6000"/>
            </a:avLst>
          </a:prstGeom>
          <a:solidFill>
            <a:srgbClr val="FCD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94944" y="1417320"/>
            <a:ext cx="5166360" cy="29845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1D75"/>
                </a:solidFill>
              </a:rPr>
              <a:t>Risks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1828800"/>
            <a:ext cx="5166360" cy="124841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Feasibility: Jeremy raised concerns at the Oct 7 townhall that two DCs a year is a stretch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Team pushback: twice the team resisted at-scale testing and 2 DCs a year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Concentration: infra and Radiance single points of failure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25880"/>
            <a:ext cx="5440680" cy="1888490"/>
          </a:xfrm>
          <a:prstGeom prst="roundRect">
            <a:avLst>
              <a:gd name="adj" fmla="val 6000"/>
            </a:avLst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09360" y="1417320"/>
            <a:ext cx="5166360" cy="29845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1D75"/>
                </a:solidFill>
              </a:rPr>
              <a:t>Decide in first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166360" cy="103505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What counts as a workable target for Abiologics from a design perspective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Headcount: mid-level engineer first, ML structure second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OneVector Phase 2 and who owns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" y="3488689"/>
            <a:ext cx="11055096" cy="1056386"/>
          </a:xfrm>
          <a:prstGeom prst="roundRect">
            <a:avLst>
              <a:gd name="adj" fmla="val 6000"/>
            </a:avLst>
          </a:prstGeom>
          <a:solidFill>
            <a:srgbClr val="F0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6092" y="3598417"/>
            <a:ext cx="10698480" cy="74549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 dirty="0">
                <a:solidFill>
                  <a:srgbClr val="2E1D75"/>
                </a:solidFill>
              </a:rPr>
              <a:t>Calendar: </a:t>
            </a:r>
            <a:r>
              <a:rPr sz="1400" b="0" i="0" dirty="0">
                <a:solidFill>
                  <a:srgbClr val="262633"/>
                </a:solidFill>
              </a:rPr>
              <a:t>2027 workshop prep is live; each LT member owes a 2026 rear-view and a 2027 front-load deck. The target-scan read is due before year end. New programs begin in </a:t>
            </a:r>
            <a:r>
              <a:rPr lang="en-US" sz="1400" b="0" i="0" dirty="0">
                <a:solidFill>
                  <a:srgbClr val="262633"/>
                </a:solidFill>
              </a:rPr>
              <a:t>Q1</a:t>
            </a:r>
            <a:r>
              <a:rPr sz="1400" b="0" i="0" dirty="0">
                <a:solidFill>
                  <a:srgbClr val="262633"/>
                </a:solidFill>
              </a:rPr>
              <a:t>.</a:t>
            </a:r>
          </a:p>
          <a:p>
            <a:pPr algn="l">
              <a:spcAft>
                <a:spcPts val="400"/>
              </a:spcAft>
            </a:pPr>
            <a:endParaRPr lang="en-US" sz="1400" b="1" i="0" dirty="0">
              <a:solidFill>
                <a:srgbClr val="2E1D75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57784" y="6016752"/>
            <a:ext cx="10515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6B7A"/>
                </a:solidFill>
              </a:rPr>
              <a:t>Sources: Townhall 10/7, Jeremy 1:1 10/7, LT 10/1 and 10/8, Chiara email 10/8.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Cross-Functional Projects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Led by the computational team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ID and target scan: the most strategic project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57784" y="1325880"/>
            <a:ext cx="5440680" cy="2315210"/>
          </a:xfrm>
          <a:prstGeom prst="roundRect">
            <a:avLst>
              <a:gd name="adj" fmla="val 6000"/>
            </a:avLst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94944" y="1417320"/>
            <a:ext cx="5166360" cy="29845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1D75"/>
                </a:solidFill>
              </a:rPr>
              <a:t>How it got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1828800"/>
            <a:ext cx="5166360" cy="167513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Oct 2025: first target-ID script pulled disease targets from Open Targets, then added GTEx, HPA, TTD and ChEMBL to list membrane proteins our Synteins could address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Jun 2026: TARDIS prioritized Matriptase, KIM-1 and 5T4 for deeper work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Sep 30: large-scale target scan (target_scan) walked through with Chiara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25880"/>
            <a:ext cx="5440680" cy="2315210"/>
          </a:xfrm>
          <a:prstGeom prst="roundRect">
            <a:avLst>
              <a:gd name="adj" fmla="val 6000"/>
            </a:avLst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09360" y="1417320"/>
            <a:ext cx="5166360" cy="29845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1D75"/>
                </a:solidFill>
              </a:rPr>
              <a:t>Where it goes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166360" cy="152527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LT 10/1 made it a board-visible priority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Declan Evans on point; Jeremy Amon advising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Output: read before year end and a back-pocket target list for BD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Open: score targets intelligently from a quick structural analysis in the L 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" y="3915409"/>
            <a:ext cx="11055096" cy="1056386"/>
          </a:xfrm>
          <a:prstGeom prst="roundRect">
            <a:avLst>
              <a:gd name="adj" fmla="val 6000"/>
            </a:avLst>
          </a:prstGeom>
          <a:solidFill>
            <a:srgbClr val="F0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4025138"/>
            <a:ext cx="10698480" cy="74549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 dirty="0">
                <a:solidFill>
                  <a:srgbClr val="2E1D75"/>
                </a:solidFill>
              </a:rPr>
              <a:t>Why it matters: </a:t>
            </a:r>
            <a:r>
              <a:rPr sz="1400" b="0" i="0" dirty="0">
                <a:solidFill>
                  <a:srgbClr val="262633"/>
                </a:solidFill>
              </a:rPr>
              <a:t>the company needs to move from one-target-at-a-time work to scanning the proteome for what design can reach. Diogo treats it as existential.</a:t>
            </a:r>
          </a:p>
          <a:p>
            <a:pPr algn="l">
              <a:spcAft>
                <a:spcPts val="400"/>
              </a:spcAft>
            </a:pPr>
            <a:endParaRPr lang="en-US" sz="1400" b="1" i="0" dirty="0">
              <a:solidFill>
                <a:srgbClr val="2E1D75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57784" y="6016752"/>
            <a:ext cx="10515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6B7A"/>
                </a:solidFill>
              </a:rPr>
              <a:t>Sources: Target ID for Abiologics 10/7/2025, TARDIS 6/16, Chiara 1:1 9/30, LT 10/1, comp team digest 10/5.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Kidney expression analysis with Chiara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57784" y="1325880"/>
            <a:ext cx="5440680" cy="2101850"/>
          </a:xfrm>
          <a:prstGeom prst="roundRect">
            <a:avLst>
              <a:gd name="adj" fmla="val 6000"/>
            </a:avLst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94944" y="1417320"/>
            <a:ext cx="5166360" cy="29845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1D75"/>
                </a:solidFill>
              </a:rPr>
              <a:t>Method (KPMP plus GTEx)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1828800"/>
            <a:ext cx="5166360" cy="146177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 dirty="0">
                <a:solidFill>
                  <a:srgbClr val="262633"/>
                </a:solidFill>
              </a:rPr>
              <a:t>Pan-tissue healthy reference from </a:t>
            </a:r>
            <a:r>
              <a:rPr sz="1400" b="0" dirty="0" err="1">
                <a:solidFill>
                  <a:srgbClr val="262633"/>
                </a:solidFill>
              </a:rPr>
              <a:t>GTEx</a:t>
            </a:r>
            <a:r>
              <a:rPr sz="1400" b="0" dirty="0">
                <a:solidFill>
                  <a:srgbClr val="262633"/>
                </a:solidFill>
              </a:rPr>
              <a:t> single-cell plus healthy kidney from KPMP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 dirty="0">
                <a:solidFill>
                  <a:srgbClr val="262633"/>
                </a:solidFill>
              </a:rPr>
              <a:t>Specificity by cell type using donor-level </a:t>
            </a:r>
            <a:r>
              <a:rPr sz="1400" b="0" dirty="0" err="1">
                <a:solidFill>
                  <a:srgbClr val="262633"/>
                </a:solidFill>
              </a:rPr>
              <a:t>pseudobulk</a:t>
            </a:r>
            <a:r>
              <a:rPr sz="1400" b="0" dirty="0">
                <a:solidFill>
                  <a:srgbClr val="262633"/>
                </a:solidFill>
              </a:rPr>
              <a:t> and a tau metric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 dirty="0">
                <a:solidFill>
                  <a:srgbClr val="262633"/>
                </a:solidFill>
              </a:rPr>
              <a:t>Map KPMP CKD and AKI cells into the frozen healthy reference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25880"/>
            <a:ext cx="5440680" cy="2101850"/>
          </a:xfrm>
          <a:prstGeom prst="roundRect">
            <a:avLst>
              <a:gd name="adj" fmla="val 6000"/>
            </a:avLst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09360" y="1417320"/>
            <a:ext cx="5166360" cy="29845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1D75"/>
                </a:solidFill>
              </a:rPr>
              <a:t>What Chiara asked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166360" cy="146177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Podocyte targeting is the next focus: surface proteins mostly expressed in podocytes and not in the literature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Address must persist in disease (KPMP) and stay specific vs other tissues (GTEx, HPA)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Safety lens on SEMA3A, TROP2, FOLR1; PAPPA biodistribution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" y="3702049"/>
            <a:ext cx="11055096" cy="1269746"/>
          </a:xfrm>
          <a:prstGeom prst="roundRect">
            <a:avLst>
              <a:gd name="adj" fmla="val 6000"/>
            </a:avLst>
          </a:prstGeom>
          <a:solidFill>
            <a:srgbClr val="F0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811777"/>
            <a:ext cx="10698480" cy="95885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 dirty="0">
                <a:solidFill>
                  <a:srgbClr val="2E1D75"/>
                </a:solidFill>
              </a:rPr>
              <a:t>Status: </a:t>
            </a:r>
            <a:r>
              <a:rPr sz="1400" b="0" i="0" dirty="0">
                <a:solidFill>
                  <a:srgbClr val="262633"/>
                </a:solidFill>
              </a:rPr>
              <a:t>analysis designs, KPMP data acquisition and README for Chiara are done (Oct to Nov 2025); podocyte request dates Jan 9, 2026. Final candidate lists and current status were not found in the notes. Ask Chiara.</a:t>
            </a:r>
          </a:p>
          <a:p>
            <a:pPr algn="l">
              <a:spcAft>
                <a:spcPts val="400"/>
              </a:spcAft>
            </a:pPr>
            <a:endParaRPr lang="en-US" sz="1400" b="1" i="0" dirty="0">
              <a:solidFill>
                <a:srgbClr val="2E1D75"/>
              </a:solidFill>
            </a:endParaRPr>
          </a:p>
          <a:p>
            <a:pPr algn="l">
              <a:spcAft>
                <a:spcPts val="400"/>
              </a:spcAft>
            </a:pPr>
            <a:r>
              <a:rPr sz="1400" b="1" i="0" dirty="0">
                <a:solidFill>
                  <a:srgbClr val="2E1D75"/>
                </a:solidFill>
              </a:rPr>
              <a:t>Reusable asset: </a:t>
            </a:r>
            <a:r>
              <a:rPr sz="1400" b="0" i="0" dirty="0">
                <a:solidFill>
                  <a:srgbClr val="262633"/>
                </a:solidFill>
              </a:rPr>
              <a:t>the same specificity workflow can feed target scan for any tissue.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" y="6016752"/>
            <a:ext cx="10515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6B7A"/>
                </a:solidFill>
              </a:rPr>
              <a:t>Sources: KPMP address analysis 10/28/2025, KPMP + GTEx 10/29/2025, Chiara 1:1s 10/23/2025, 12/11/2025, 1/9/2026.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Bioinformatics and data work: spread across programs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1543210"/>
              </p:ext>
            </p:extLst>
          </p:nvPr>
        </p:nvGraphicFramePr>
        <p:xfrm>
          <a:off x="557784" y="1280160"/>
          <a:ext cx="11064240" cy="42793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Stream</a:t>
                      </a:r>
                    </a:p>
                  </a:txBody>
                  <a:tcPr marL="73152" marR="73152" marT="36576" marB="36576" anchor="ctr">
                    <a:solidFill>
                      <a:srgbClr val="2E1D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What the team does</a:t>
                      </a:r>
                    </a:p>
                  </a:txBody>
                  <a:tcPr marL="73152" marR="73152" marT="36576" marB="36576" anchor="ctr">
                    <a:solidFill>
                      <a:srgbClr val="2E1D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Customers</a:t>
                      </a:r>
                    </a:p>
                  </a:txBody>
                  <a:tcPr marL="73152" marR="73152" marT="36576" marB="36576" anchor="ctr">
                    <a:solidFill>
                      <a:srgbClr val="2E1D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E1D75"/>
                          </a:solidFill>
                        </a:rPr>
                        <a:t>Omics and disease-area diligence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62633"/>
                          </a:solidFill>
                        </a:rPr>
                        <a:t>Single-cell and bulk expression analysis, disease-area strategy (FAP, ADPKD, GLP-1)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33"/>
                          </a:solidFill>
                        </a:rPr>
                        <a:t>Chiara; LT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r>
                        <a:rPr sz="1300" b="1" dirty="0">
                          <a:solidFill>
                            <a:srgbClr val="2E1D75"/>
                          </a:solidFill>
                        </a:rPr>
                        <a:t>Oncology data (FAP)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33"/>
                          </a:solidFill>
                        </a:rPr>
                        <a:t>Biodistribution and tumor-uptake data support; weekly Onc Data meeting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33"/>
                          </a:solidFill>
                        </a:rPr>
                        <a:t>Brad Kubick; Martin Tremblay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E1D75"/>
                          </a:solidFill>
                        </a:rPr>
                        <a:t>G Project (GFRAL)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33"/>
                          </a:solidFill>
                        </a:rPr>
                        <a:t>Developability and scoring input; benchmarking data; active learning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62633"/>
                          </a:solidFill>
                        </a:rPr>
                        <a:t>K</a:t>
                      </a:r>
                      <a:r>
                        <a:rPr lang="en-US" sz="1300" b="0" dirty="0">
                          <a:solidFill>
                            <a:srgbClr val="262633"/>
                          </a:solidFill>
                        </a:rPr>
                        <a:t>evin</a:t>
                      </a:r>
                      <a:r>
                        <a:rPr sz="1300" b="0" dirty="0">
                          <a:solidFill>
                            <a:srgbClr val="262633"/>
                          </a:solidFill>
                        </a:rPr>
                        <a:t> Lai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E1D75"/>
                          </a:solidFill>
                        </a:rPr>
                        <a:t>Data model and Benchling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33"/>
                          </a:solidFill>
                        </a:rPr>
                        <a:t>Results schemas, Benchling to S3, data package requirements for consultants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dirty="0">
                          <a:solidFill>
                            <a:srgbClr val="262633"/>
                          </a:solidFill>
                        </a:rPr>
                        <a:t>Andrew; Comp team</a:t>
                      </a:r>
                      <a:endParaRPr sz="1300" b="0" dirty="0">
                        <a:solidFill>
                          <a:srgbClr val="262633"/>
                        </a:solidFill>
                      </a:endParaRP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E1D75"/>
                          </a:solidFill>
                        </a:rPr>
                        <a:t>Pipeline tooling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33"/>
                          </a:solidFill>
                        </a:rPr>
                        <a:t>Rosetta, PyMol, ncAA notebook work, property prediction models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62633"/>
                          </a:solidFill>
                        </a:rPr>
                        <a:t>Design team; Beth and Nitya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57784" y="6016752"/>
            <a:ext cx="10515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6B7A"/>
                </a:solidFill>
              </a:rPr>
              <a:t>Sources: Disease area strategy 11/24/2025, Onc Data and G Project meetings (9/25 to 10/9), comp team digests. Customer column inferred from invites.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Agentic AI and literature mining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57784" y="1325880"/>
            <a:ext cx="5440680" cy="2378710"/>
          </a:xfrm>
          <a:prstGeom prst="roundRect">
            <a:avLst>
              <a:gd name="adj" fmla="val 6000"/>
            </a:avLst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94944" y="1417320"/>
            <a:ext cx="5166360" cy="29845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1D75"/>
                </a:solidFill>
              </a:rPr>
              <a:t>What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1828800"/>
            <a:ext cx="5166360" cy="173863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 dirty="0" err="1">
                <a:solidFill>
                  <a:srgbClr val="262633"/>
                </a:solidFill>
              </a:rPr>
              <a:t>LiteratureAgent</a:t>
            </a:r>
            <a:r>
              <a:rPr sz="1400" b="0" dirty="0">
                <a:solidFill>
                  <a:srgbClr val="262633"/>
                </a:solidFill>
              </a:rPr>
              <a:t> for literature mining</a:t>
            </a:r>
            <a:r>
              <a:rPr lang="en-US" sz="1400" b="0" dirty="0">
                <a:solidFill>
                  <a:srgbClr val="262633"/>
                </a:solidFill>
              </a:rPr>
              <a:t> PoC</a:t>
            </a:r>
            <a:endParaRPr sz="1400" b="0" dirty="0">
              <a:solidFill>
                <a:srgbClr val="262633"/>
              </a:solidFill>
            </a:endParaRP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 dirty="0" err="1">
                <a:solidFill>
                  <a:srgbClr val="262633"/>
                </a:solidFill>
              </a:rPr>
              <a:t>ExperimentDesignAgent</a:t>
            </a:r>
            <a:r>
              <a:rPr lang="en-US" sz="1400" b="0" dirty="0">
                <a:solidFill>
                  <a:srgbClr val="262633"/>
                </a:solidFill>
              </a:rPr>
              <a:t> PoC</a:t>
            </a:r>
            <a:endParaRPr sz="1400" b="0" dirty="0">
              <a:solidFill>
                <a:srgbClr val="262633"/>
              </a:solidFill>
            </a:endParaRP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 dirty="0">
                <a:solidFill>
                  <a:srgbClr val="262633"/>
                </a:solidFill>
              </a:rPr>
              <a:t>TARDIS: six-agent target assessment with a GO/NO-GO call; reports built for GFRAL, FOLR1, RANKL, SOST, Kv1.3, IAPP and PAPPA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 dirty="0">
                <a:solidFill>
                  <a:srgbClr val="262633"/>
                </a:solidFill>
              </a:rPr>
              <a:t>MI6 Claude plug-in for target assessment (Beth, shown at LT 9/24)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25880"/>
            <a:ext cx="5440680" cy="2378710"/>
          </a:xfrm>
          <a:prstGeom prst="roundRect">
            <a:avLst>
              <a:gd name="adj" fmla="val 6000"/>
            </a:avLst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09360" y="1417320"/>
            <a:ext cx="5166360" cy="29845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1D75"/>
                </a:solidFill>
              </a:rPr>
              <a:t>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166360" cy="103505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 dirty="0">
                <a:solidFill>
                  <a:srgbClr val="262633"/>
                </a:solidFill>
              </a:rPr>
              <a:t>Beth to own the agentic target end to end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 dirty="0">
                <a:solidFill>
                  <a:srgbClr val="262633"/>
                </a:solidFill>
              </a:rPr>
              <a:t>Avoid "tool monoculture": agents converge on the same scoring proxies</a:t>
            </a:r>
            <a:endParaRPr lang="en-US" sz="1400" b="0" dirty="0">
              <a:solidFill>
                <a:srgbClr val="262633"/>
              </a:solidFill>
            </a:endParaRP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lang="en-US" sz="1400" dirty="0">
                <a:solidFill>
                  <a:srgbClr val="262633"/>
                </a:solidFill>
              </a:rPr>
              <a:t>Consolidate agentic AI across multiple cases at </a:t>
            </a:r>
            <a:r>
              <a:rPr lang="en-US" sz="1400" dirty="0" err="1">
                <a:solidFill>
                  <a:srgbClr val="262633"/>
                </a:solidFill>
              </a:rPr>
              <a:t>Abiologics</a:t>
            </a:r>
            <a:endParaRPr sz="1400" b="0" dirty="0">
              <a:solidFill>
                <a:srgbClr val="262633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57784" y="6016752"/>
            <a:ext cx="10515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6B7A"/>
                </a:solidFill>
              </a:rPr>
              <a:t>Sources: Abio agentic AI summary, LT 9/24, TARDIS 6/16, Computational operating model proposal (email 8/19/2025), Robot uprising session 10/1.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Wordmark">
  <a:themeElements>
    <a:clrScheme name="Abiologics">
      <a:dk1>
        <a:srgbClr val="2E1D76"/>
      </a:dk1>
      <a:lt1>
        <a:srgbClr val="FFFFFF"/>
      </a:lt1>
      <a:dk2>
        <a:srgbClr val="2E1D75"/>
      </a:dk2>
      <a:lt2>
        <a:srgbClr val="F0F0EF"/>
      </a:lt2>
      <a:accent1>
        <a:srgbClr val="7C73FE"/>
      </a:accent1>
      <a:accent2>
        <a:srgbClr val="E1D3F7"/>
      </a:accent2>
      <a:accent3>
        <a:srgbClr val="D641E5"/>
      </a:accent3>
      <a:accent4>
        <a:srgbClr val="4651FC"/>
      </a:accent4>
      <a:accent5>
        <a:srgbClr val="FFE668"/>
      </a:accent5>
      <a:accent6>
        <a:srgbClr val="FCDBC8"/>
      </a:accent6>
      <a:hlink>
        <a:srgbClr val="202BB8"/>
      </a:hlink>
      <a:folHlink>
        <a:srgbClr val="4651F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mpressPPT_Template" id="{621E6030-709C-2F46-BDA8-6BF5A4F2FB2B}" vid="{6923DB86-CD6D-974A-8DB9-1CAFA0EE27D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99ac673-00ea-42d4-a6f8-6e7a95bf7c76" xsi:nil="true"/>
    <lcf76f155ced4ddcb4097134ff3c332f xmlns="b48af68a-a346-43f0-9a2c-8b4004d594b5">
      <Terms xmlns="http://schemas.microsoft.com/office/infopath/2007/PartnerControls"/>
    </lcf76f155ced4ddcb4097134ff3c332f>
    <Notes xmlns="b48af68a-a346-43f0-9a2c-8b4004d594b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4268810CE0484DB587C430F02BC0EC" ma:contentTypeVersion="20" ma:contentTypeDescription="Create a new document." ma:contentTypeScope="" ma:versionID="014a80ce7cf79789e8c0bbbca47931ec">
  <xsd:schema xmlns:xsd="http://www.w3.org/2001/XMLSchema" xmlns:xs="http://www.w3.org/2001/XMLSchema" xmlns:p="http://schemas.microsoft.com/office/2006/metadata/properties" xmlns:ns2="b48af68a-a346-43f0-9a2c-8b4004d594b5" xmlns:ns3="d99ac673-00ea-42d4-a6f8-6e7a95bf7c76" targetNamespace="http://schemas.microsoft.com/office/2006/metadata/properties" ma:root="true" ma:fieldsID="59b5b288cf41ac399fd76952927989c3" ns2:_="" ns3:_="">
    <xsd:import namespace="b48af68a-a346-43f0-9a2c-8b4004d594b5"/>
    <xsd:import namespace="d99ac673-00ea-42d4-a6f8-6e7a95bf7c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ObjectDetectorVersions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MediaServiceSearchProperties" minOccurs="0"/>
                <xsd:element ref="ns2:Not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8af68a-a346-43f0-9a2c-8b4004d594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4d74a464-777e-469e-9c7c-79ea0712861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Notes" ma:index="25" nillable="true" ma:displayName="Notes" ma:format="Dropdown" ma:internalName="Notes">
      <xsd:simpleType>
        <xsd:restriction base="dms:Note">
          <xsd:maxLength value="255"/>
        </xsd:restriction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9ac673-00ea-42d4-a6f8-6e7a95bf7c7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4d85cace-589c-4216-b6f0-c8c9cbac63a9}" ma:internalName="TaxCatchAll" ma:showField="CatchAllData" ma:web="d99ac673-00ea-42d4-a6f8-6e7a95bf7c7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6520170-E9B3-4976-8335-BEFED3A9048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765F2E1-657B-4414-AF81-95097C161AAE}">
  <ds:schemaRefs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infopath/2007/PartnerControls"/>
    <ds:schemaRef ds:uri="b48af68a-a346-43f0-9a2c-8b4004d594b5"/>
    <ds:schemaRef ds:uri="http://schemas.microsoft.com/office/2006/documentManagement/types"/>
    <ds:schemaRef ds:uri="http://www.w3.org/XML/1998/namespace"/>
    <ds:schemaRef ds:uri="d99ac673-00ea-42d4-a6f8-6e7a95bf7c76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DA7F4543-8AB1-48C6-A152-E62600D688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8af68a-a346-43f0-9a2c-8b4004d594b5"/>
    <ds:schemaRef ds:uri="d99ac673-00ea-42d4-a6f8-6e7a95bf7c7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12016</TotalTime>
  <Words>2692</Words>
  <Application>Microsoft Macintosh PowerPoint</Application>
  <PresentationFormat>Widescreen</PresentationFormat>
  <Paragraphs>287</Paragraphs>
  <Slides>22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Avenir Book</vt:lpstr>
      <vt:lpstr>Calibri</vt:lpstr>
      <vt:lpstr>Helvetica Neue</vt:lpstr>
      <vt:lpstr>Helvetica Neue Light</vt:lpstr>
      <vt:lpstr>Wordmark</vt:lpstr>
      <vt:lpstr>thinkcell Slide</vt:lpstr>
      <vt:lpstr>Onboarding</vt:lpstr>
      <vt:lpstr>PowerPoint Presentation</vt:lpstr>
      <vt:lpstr>Where you are landing: a small team with board-visible stakes</vt:lpstr>
      <vt:lpstr>IT and Infrastructure</vt:lpstr>
      <vt:lpstr>IT landscape: five vendors, one coordination gap</vt:lpstr>
      <vt:lpstr>OneVector: Phase 1 is done, Phase 2 is your decision</vt:lpstr>
      <vt:lpstr>IT open items to pick up</vt:lpstr>
      <vt:lpstr>Research Informatics</vt:lpstr>
      <vt:lpstr>Research informatics: what Joe Kennedy owns</vt:lpstr>
      <vt:lpstr>Team and Career Growth</vt:lpstr>
      <vt:lpstr>Team makeup and skills</vt:lpstr>
      <vt:lpstr>Talent snapshot from the July review (confidential)</vt:lpstr>
      <vt:lpstr>Career growth: one concrete move per person</vt:lpstr>
      <vt:lpstr>2026 Results and 2027 Planning</vt:lpstr>
      <vt:lpstr>2026 in review: from point solutions to a platform</vt:lpstr>
      <vt:lpstr>2027 plan: build on 2026 growth (proposed, to validate with LT)</vt:lpstr>
      <vt:lpstr>2027 risks and what to decide first</vt:lpstr>
      <vt:lpstr>Cross-Functional Projects</vt:lpstr>
      <vt:lpstr>Target ID and target scan: the most strategic project</vt:lpstr>
      <vt:lpstr>Kidney expression analysis with Chiara</vt:lpstr>
      <vt:lpstr>Bioinformatics and data work: spread across programs</vt:lpstr>
      <vt:lpstr>Agentic AI and literature mining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Empress Therapeutics Presentation Title Here</dc:title>
  <dc:creator>Thandiwe Tembo</dc:creator>
  <cp:lastModifiedBy>Diogo Camacho</cp:lastModifiedBy>
  <cp:revision>75</cp:revision>
  <dcterms:created xsi:type="dcterms:W3CDTF">2023-03-27T14:10:57Z</dcterms:created>
  <dcterms:modified xsi:type="dcterms:W3CDTF">2026-10-15T11:14:22Z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0x010100754268810CE0484DB587C430F02BC0EC</vt:lpwstr>
  </property>
  <property fmtid="{D5CDD505-2E9C-101B-9397-08002B2CF9AE}" pid="3" name="MediaServiceImageTags">
    <vt:lpwstr/>
  </property>
</Properties>
</file>